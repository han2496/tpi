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e9576f7e5640dd" /><Relationship Type="http://schemas.openxmlformats.org/officeDocument/2006/relationships/extended-properties" Target="/docProps/app.xml" Id="Re3ae84b2cb124e7d" /><Relationship Type="http://schemas.openxmlformats.org/officeDocument/2006/relationships/officeDocument" Target="/ppt/presentation.xml" Id="Rcdd73937f66b44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22dbedebde4c6e"/>
  </p:sldMasterIdLst>
  <p:notesMasterIdLst>
    <p:notesMasterId xmlns:r="http://schemas.openxmlformats.org/officeDocument/2006/relationships" r:id="R5eec7c32cc2544f8"/>
  </p:notesMasterIdLst>
  <p:sldIdLst>
    <p:sldId xmlns:r="http://schemas.openxmlformats.org/officeDocument/2006/relationships" id="256" r:id="R5f0ff29ba6e14173"/>
    <p:sldId xmlns:r="http://schemas.openxmlformats.org/officeDocument/2006/relationships" id="257" r:id="Rd93be0814bda43a6"/>
    <p:sldId xmlns:r="http://schemas.openxmlformats.org/officeDocument/2006/relationships" id="258" r:id="R9e1d10e6607340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0c063492474bdd" /><Relationship Type="http://schemas.openxmlformats.org/officeDocument/2006/relationships/slideMaster" Target="/ppt/slideMasters/slideMaster1.xml" Id="R8222dbedebde4c6e" /><Relationship Type="http://schemas.openxmlformats.org/officeDocument/2006/relationships/notesMaster" Target="/ppt/notesMasters/notesMaster1.xml" Id="R5eec7c32cc2544f8" /><Relationship Type="http://schemas.openxmlformats.org/officeDocument/2006/relationships/presProps" Target="/ppt/presProps.xml" Id="Rbdd9810fe0344a3f" /><Relationship Type="http://schemas.openxmlformats.org/officeDocument/2006/relationships/viewProps" Target="/ppt/viewProps.xml" Id="Rf488a680045f4865" /><Relationship Type="http://schemas.openxmlformats.org/officeDocument/2006/relationships/tableStyles" Target="/ppt/tableStyles.xml" Id="Ra9b79474fc1045de" /><Relationship Type="http://schemas.openxmlformats.org/officeDocument/2006/relationships/slide" Target="/ppt/slides/slide1.xml" Id="R5f0ff29ba6e14173" /><Relationship Type="http://schemas.openxmlformats.org/officeDocument/2006/relationships/slide" Target="/ppt/slides/slide2.xml" Id="Rd93be0814bda43a6" /><Relationship Type="http://schemas.openxmlformats.org/officeDocument/2006/relationships/slide" Target="/ppt/slides/slide3.xml" Id="R9e1d10e6607340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7c989b1a6747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8c2130a7d1483c" /><Relationship Type="http://schemas.openxmlformats.org/officeDocument/2006/relationships/notesMaster" Target="/ppt/notesMasters/notesMaster1.xml" Id="R42ebacdf45b54a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ab5bfe88104174" /><Relationship Type="http://schemas.openxmlformats.org/officeDocument/2006/relationships/notesMaster" Target="/ppt/notesMasters/notesMaster1.xml" Id="Ree922206ab9444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76474db16b445e" /><Relationship Type="http://schemas.openxmlformats.org/officeDocument/2006/relationships/notesMaster" Target="/ppt/notesMasters/notesMaster1.xml" Id="R9dbfabca6ebe4c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sources:</a:t>
            </a:r>
          </a:p>
          <a:p xmlns:a="http://schemas.openxmlformats.org/drawingml/2006/main">
            <a:r>
              <a:t>- C:/Users/Gooooood/Documents/MLCS/Lab_Project/04_VMC/회사미팅/최종보고.pdf, pp. 39 and 56: first-year PI model and personalized controller results.</a:t>
            </a:r>
          </a:p>
          <a:p xmlns:a="http://schemas.openxmlformats.org/drawingml/2006/main">
            <a:r>
              <a:t>- C:/Users/Gooooood/Documents/MLCS/Lab_Project/06_TPI/월례회의/20260612_월례회의.pdf, pp. 39, 43 and 46: hierarchical Bayesian learned prior and real-driver prior/posterior AUROC.</a:t>
            </a:r>
          </a:p>
          <a:p xmlns:a="http://schemas.openxmlformats.org/drawingml/2006/main">
            <a:r>
              <a:t>- C:/Users/Gooooood/Documents/MLCS/Lab_Project/06_TPI/월례회의/20260715_월례회의.pdf, pp. 18 and 26: feature selection and scalable inference.</a:t>
            </a:r>
          </a:p>
          <a:p xmlns:a="http://schemas.openxmlformats.org/drawingml/2006/main">
            <a:r>
              <a:t>- C:/Users/Gooooood/Documents/MLCS/Lab_Project/06_TPI/월례회의/20260819_월례회의.pdf, pp. 14, 17 and 26: state reconstruction, end-to-end framework and personalized controller experiment.</a:t>
            </a:r>
          </a:p>
          <a:p xmlns:a="http://schemas.openxmlformats.org/drawingml/2006/main">
            <a:r>
              <a:t>Metrics shown: real-driver AUROC 0.7813 prior and 0.8381 posterior; synthetic experiment AUROC 0.910 with 100 train users, 10 test users and 10 feedback items per user; Bi-LSTM reconstruction correlation 0.9927 and downstream AUROC change +0.02.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107b88e6a4b00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96a3567adb49bc" /><Relationship Type="http://schemas.openxmlformats.org/officeDocument/2006/relationships/slideLayout" Target="/ppt/slideLayouts/slideLayout1.xml" Id="Ra8b07093249c495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087D17A-667E-4A79-8D84-C627E7784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1B578BD-869A-4C34-8F47-7EE08C95E46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b07093249c495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0d42d8a144007" /><Relationship Type="http://schemas.openxmlformats.org/officeDocument/2006/relationships/image" Target="/ppt/media/image.png" Id="Rdd3b56d9c88c46b0" /><Relationship Type="http://schemas.openxmlformats.org/officeDocument/2006/relationships/image" Target="/ppt/media/image2.png" Id="R667394550d8e4208" /><Relationship Type="http://schemas.openxmlformats.org/officeDocument/2006/relationships/notesSlide" Target="/ppt/notesSlides/notesSlide1.xml" Id="R039c3516321946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98c7850ce4a39" /><Relationship Type="http://schemas.openxmlformats.org/officeDocument/2006/relationships/notesSlide" Target="/ppt/notesSlides/notesSlide2.xml" Id="R19177ce3541949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9596585d446f8" /><Relationship Type="http://schemas.openxmlformats.org/officeDocument/2006/relationships/image" Target="/ppt/media/image3.png" Id="R8dcbbc66bc4d47b8" /><Relationship Type="http://schemas.openxmlformats.org/officeDocument/2006/relationships/image" Target="/ppt/media/image4.png" Id="Rd61a652056074899" /><Relationship Type="http://schemas.openxmlformats.org/officeDocument/2006/relationships/notesSlide" Target="/ppt/notesSlides/notesSlide3.xml" Id="R0089967b1dba40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27844E7C-4437-4AD6-AA18-F6E65EEA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939" y="1994665"/>
            <a:ext cx="5468112" cy="23408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CD6C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33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C0ACE256-385B-98D1-3CA2-503CEA44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266" y="2481521"/>
            <a:ext cx="3809148" cy="181707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CD6C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35D22D2-905A-4CAD-9C20-7C8CBE36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1656841"/>
            <a:ext cx="2331720" cy="288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왜 PBRL이 필요한가?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F5F63DF-6DE4-4219-BA85-9B47851C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651" y="1794001"/>
            <a:ext cx="257860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6C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7C1EFD9-8A25-4874-A5B1-3B546313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939" y="1656841"/>
            <a:ext cx="3017520" cy="288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Simple feedback의 두 형태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64924CC-D840-400B-A3EF-4C4CE5F5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731" y="1794001"/>
            <a:ext cx="219456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6C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45EFCBC-B97D-458F-9FA4-9149A6AF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1994665"/>
            <a:ext cx="5285232" cy="86477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CD6C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9207D6B-1FA6-48F2-85E1-4C773FA6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22" y="2067817"/>
            <a:ext cx="1677751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CD6F24"/>
                </a:solidFill>
                <a:latin typeface="Malgun Gothic"/>
                <a:ea typeface="Malgun Gothic"/>
                <a:cs typeface="Malgun Gothic"/>
              </a:rPr>
              <a:t>기존 접근의 한계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A45C9579-405D-4CE1-BD9A-94FA2160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4421109"/>
            <a:ext cx="2377440" cy="288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PBRL의 학습 과정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7DD0C937-93B6-42CF-8160-1AB52ACE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211" y="4558269"/>
            <a:ext cx="30449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6C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7CCE22BA-5DE3-4873-8233-8FD0E9A5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B3FBB03B-BCFB-43DF-B80F-E0D284FA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99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80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903AC71E-1962-4564-A49F-7AD842E1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99" y="4943501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99BD4C0F-9F52-4FA3-82E3-A372708E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71" y="5160924"/>
            <a:ext cx="969264" cy="223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제시</a:t>
            </a:r>
            <a:endParaRPr sz="1050" b="1">
              <a:solidFill>
                <a:srgbClr val="1F315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B1B3406E-E354-4EA7-A3FF-FF20550B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83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현재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policy로</a:t>
            </a:r>
            <a:endParaRPr sz="7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여러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만든다</a:t>
            </a:r>
            <a:endParaRPr sz="7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803FD6E6-967E-4362-A007-749EC2DB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845" y="5152190"/>
            <a:ext cx="100584" cy="204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400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C8198FC0-498A-4566-B73B-BC2FF310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153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74AAD7B8-0429-402A-803D-0D26EB07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33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80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C2460BF0-6F29-494F-856E-D2E40279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33" y="4943501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C3898BD3-F154-4028-AC4D-2481E823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305" y="5164002"/>
            <a:ext cx="969264" cy="216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사람 피드백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814B7B10-A62C-42C8-9862-92DF78AA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017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사람이</a:t>
            </a:r>
            <a:r>
              <a:rPr sz="7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</a:t>
            </a:r>
            <a:endParaRPr sz="7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평가한다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972946BF-33B0-4814-BFD7-A182199D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251" y="5152190"/>
            <a:ext cx="100584" cy="204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400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074D4267-A3EF-4BF3-90A8-A29D3B53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087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2311E475-CF3C-485F-BA3D-69B581E1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567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6986C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54558684-7A18-42F2-A725-E3FBA632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567" y="4949325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FE56131E-7A74-4089-B3A6-B940B4C9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239" y="5164002"/>
            <a:ext cx="969264" cy="216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보상모델 학습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758B8A5E-7A2C-4418-97DC-EEAF2020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51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판단 기록으로</a:t>
            </a:r>
          </a:p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보상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을 배운다.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EE172687-C0DB-4D0F-BA86-E7212DF7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135" y="5152190"/>
            <a:ext cx="100584" cy="204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400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7E24386A-1084-45F6-9083-20758C48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443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4772AAE6-85E8-425B-9F66-60460108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23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6986C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C20B9BEB-EC5B-488F-B6FF-CA4B4850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23" y="4949325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9DE407C1-2E60-4931-ABE1-B64D13A5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595" y="5160924"/>
            <a:ext cx="969264" cy="223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policy </a:t>
            </a: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학습</a:t>
            </a:r>
            <a:endParaRPr sz="1050" b="1">
              <a:solidFill>
                <a:srgbClr val="1F315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FAD9B40D-500B-47FD-8356-30E51D7C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307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학습된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보상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으로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학습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한다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6" name="Oval 65">
            <a:extLst xmlns:a="http://schemas.openxmlformats.org/drawingml/2006/main">
              <a:ext uri="{FF2B5EF4-FFF2-40B4-BE49-F238E27FC236}">
                <a16:creationId xmlns:a16="http://schemas.microsoft.com/office/drawing/2014/main" id="{DB3B1949-48B5-4282-A84F-65417E94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2046153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0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84D7321C-8646-49AD-AB2D-DA22FD0C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2129399"/>
            <a:ext cx="329184" cy="1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1B38EE68-A8D2-4913-BE78-19CD7962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2052402"/>
            <a:ext cx="2468880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pairwise feedback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F316B8B3-D02E-4A0F-9D3F-16DC0D67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2305561"/>
            <a:ext cx="4663440" cy="186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두 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동작을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비교해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더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나은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쪽을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고르는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방식</a:t>
            </a:r>
            <a:endParaRPr sz="9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2" name="Rounded Rectangle 71">
            <a:extLst xmlns:a="http://schemas.openxmlformats.org/drawingml/2006/main">
              <a:ext uri="{FF2B5EF4-FFF2-40B4-BE49-F238E27FC236}">
                <a16:creationId xmlns:a16="http://schemas.microsoft.com/office/drawing/2014/main" id="{D1E296E9-0DC0-43A5-ADA5-C3B47D70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939" y="4421109"/>
            <a:ext cx="5468112" cy="14264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2E1C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73" name="Oval 72">
            <a:extLst xmlns:a="http://schemas.openxmlformats.org/drawingml/2006/main">
              <a:ext uri="{FF2B5EF4-FFF2-40B4-BE49-F238E27FC236}">
                <a16:creationId xmlns:a16="http://schemas.microsoft.com/office/drawing/2014/main" id="{E610C92B-1EC8-4C51-A2B6-F0054F9A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4472597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AC6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AED802A4-7510-442A-9361-E758B675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4555843"/>
            <a:ext cx="329184" cy="1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0AF6742B-6EC6-4F48-8B6D-F2A06C53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4478846"/>
            <a:ext cx="3017520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Good/Bad feedback 예시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5312D741-81D5-47BF-862A-51C63482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4732005"/>
            <a:ext cx="4663440" cy="186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하나의 동작의 좋고 나쁨을 고르는 방식 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두개의 동작을 동시에 경험하기 어려울 때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)</a:t>
            </a:r>
            <a:endParaRPr sz="9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FE1200FD-E4A6-49E1-BF25-8738EFD4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529" y="4933173"/>
            <a:ext cx="3808800" cy="868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2E1C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n w="3175">
                <a:solidFill>
                  <a:schemeClr val="tx1"/>
                </a:solidFill>
              </a:ln>
            </a:endParaRPr>
          </a:p>
        </p:txBody>
      </p:sp>
      <p:pic>
        <p:nvPicPr>
          <p:cNvPr id="179" name="Picture 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b56d9c88c46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5334" y="4969749"/>
            <a:ext cx="2151321" cy="795527"/>
          </a:xfrm>
          <a:prstGeom xmlns:a="http://schemas.openxmlformats.org/drawingml/2006/main" prst="rect">
            <a:avLst/>
          </a:prstGeom>
        </p:spPr>
      </p:pic>
      <p:sp>
        <p:nvSpPr>
          <p:cNvPr id="92" name="Text 0">
            <a:extLst xmlns:a="http://schemas.openxmlformats.org/drawingml/2006/main">
              <a:ext uri="{FF2B5EF4-FFF2-40B4-BE49-F238E27FC236}">
                <a16:creationId xmlns:a16="http://schemas.microsoft.com/office/drawing/2014/main" id="{ADF4E439-8AC4-FD59-7CF1-804FDC17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00"/>
            <a:ext cx="73144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선호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학습 — 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개요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Text 1">
            <a:extLst xmlns:a="http://schemas.openxmlformats.org/drawingml/2006/main">
              <a:ext uri="{FF2B5EF4-FFF2-40B4-BE49-F238E27FC236}">
                <a16:creationId xmlns:a16="http://schemas.microsoft.com/office/drawing/2014/main" id="{41AF5563-7C0A-2A28-8396-E51C1891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52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28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선호 기반 학습 </a:t>
            </a:r>
            <a:r>
              <a:rPr sz="28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(Preference based Reinforcement Learning, PBRL)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Text 2">
            <a:extLst xmlns:a="http://schemas.openxmlformats.org/drawingml/2006/main">
              <a:ext uri="{FF2B5EF4-FFF2-40B4-BE49-F238E27FC236}">
                <a16:creationId xmlns:a16="http://schemas.microsoft.com/office/drawing/2014/main" id="{B645F334-0423-B42C-8A6E-7FDD75FF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113"/>
            <a:ext cx="1106352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최적화를 위한 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직접 설계하기 어려울 때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사람의 피드백으로 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학습한다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자연스러운 로봇 동작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편안한 승차감처럼 목표를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objective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의 형태로 수식화가 어려운 경우가 많다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. PBRL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은 사람의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피드백으로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을 학습하고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그 기준으로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를 학습한다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Shape 25">
            <a:extLst xmlns:a="http://schemas.openxmlformats.org/drawingml/2006/main">
              <a:ext uri="{FF2B5EF4-FFF2-40B4-BE49-F238E27FC236}">
                <a16:creationId xmlns:a16="http://schemas.microsoft.com/office/drawing/2014/main" id="{F5542930-BF9F-9349-CC88-6BD662A2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240"/>
            <a:ext cx="11090880" cy="31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Text 26">
            <a:extLst xmlns:a="http://schemas.openxmlformats.org/drawingml/2006/main">
              <a:ext uri="{FF2B5EF4-FFF2-40B4-BE49-F238E27FC236}">
                <a16:creationId xmlns:a16="http://schemas.microsoft.com/office/drawing/2014/main" id="{2FCD0537-8041-7867-C6AD-CD4EF298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5240"/>
            <a:ext cx="10880640" cy="29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정리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: 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PBRL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은 원하는 행동을 직접 정의하거나 시연하기 어려운 문제에서 사람의 평가로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를 학습하며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특히 고객 피드백의 적용에서는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Good/Bad feedback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이 실용적일 수 있다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Shape 29">
            <a:extLst xmlns:a="http://schemas.openxmlformats.org/drawingml/2006/main">
              <a:ext uri="{FF2B5EF4-FFF2-40B4-BE49-F238E27FC236}">
                <a16:creationId xmlns:a16="http://schemas.microsoft.com/office/drawing/2014/main" id="{BB4FCA1C-740C-1F37-D484-AA5D347C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1109160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TextBox 127">
            <a:extLst xmlns:a="http://schemas.openxmlformats.org/drawingml/2006/main">
              <a:ext uri="{FF2B5EF4-FFF2-40B4-BE49-F238E27FC236}">
                <a16:creationId xmlns:a16="http://schemas.microsoft.com/office/drawing/2014/main" id="{D022FDEC-516E-C3D9-4309-F578ADA1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32" y="2270942"/>
            <a:ext cx="4990001" cy="49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/>
              <a:t>Imitation</a:t>
            </a:r>
            <a:r>
              <a:rPr sz="1000"/>
              <a:t> learning, </a:t>
            </a:r>
            <a:r>
              <a:rPr sz="1000"/>
              <a:t>IRL은</a:t>
            </a:r>
            <a:r>
              <a:rPr sz="1000"/>
              <a:t> </a:t>
            </a:r>
            <a:r>
              <a:rPr sz="1000"/>
              <a:t>비용이 큰 전문가의 </a:t>
            </a:r>
            <a:r>
              <a:rPr sz="1000"/>
              <a:t>demo에</a:t>
            </a:r>
            <a:r>
              <a:rPr sz="1000"/>
              <a:t> 의존</a:t>
            </a:r>
            <a:r>
              <a:rPr sz="1000"/>
              <a:t>한다</a:t>
            </a:r>
            <a:r>
              <a:rPr sz="1000"/>
              <a:t>.</a:t>
            </a:r>
          </a:p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/>
              <a:t>자연어</a:t>
            </a:r>
            <a:r>
              <a:rPr sz="1000"/>
              <a:t> 기반 피드백</a:t>
            </a:r>
            <a:r>
              <a:rPr sz="1000"/>
              <a:t>도 유망하지만</a:t>
            </a:r>
            <a:r>
              <a:rPr sz="1000"/>
              <a:t> </a:t>
            </a:r>
            <a:r>
              <a:rPr sz="1000"/>
              <a:t>인간은  본인의 취향을 잘 설명하지 못한다</a:t>
            </a:r>
            <a:r>
              <a:rPr sz="1000"/>
              <a:t>. </a:t>
            </a:r>
            <a:endParaRPr sz="10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87" name="Picture 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394550d8e42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66900" y="2518734"/>
            <a:ext cx="3388188" cy="17600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ED8E803-8524-5917-88E0-022F454B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54" y="2974992"/>
            <a:ext cx="5285232" cy="1309471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2E1C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4F07D94-A0D0-5EB6-B2DB-69DA2AD4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57" y="3048144"/>
            <a:ext cx="1899235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PBRL</a:t>
            </a:r>
            <a:r>
              <a:rPr sz="1400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이 해결하는 지점</a:t>
            </a:r>
            <a:endParaRPr sz="1400" b="1">
              <a:solidFill>
                <a:srgbClr val="52AC6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1B028F5-ECD3-BB22-89D7-9B1817FE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7" y="3251269"/>
            <a:ext cx="4990001" cy="948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선택지를 고르도록 유도하여 본인도 몰랐던 암묵적인 선호를 이끌어낼 수 있음</a:t>
            </a:r>
            <a:endParaRPr sz="100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또한 피드백 실수를 하여도 노이즈가 자연스럽게 완화될 수 있기에 피드백의 질에 의존도가 비교적 낮다</a:t>
            </a:r>
            <a:endParaRPr sz="100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628650" lvl="1" indent="-171450">
              <a:lnSpc>
                <a:spcPct val="150000"/>
              </a:lnSpc>
              <a:buFont typeface="Wingdings"/>
              <a:buChar char="Ø"/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일반 고객들의 피드백을 효율적으로 활용할 수 있는 가능성</a:t>
            </a:r>
            <a:endParaRPr sz="100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108764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White Background">
            <a:extLst xmlns:a="http://schemas.openxmlformats.org/drawingml/2006/main">
              <a:ext uri="{FF2B5EF4-FFF2-40B4-BE49-F238E27FC236}">
                <a16:creationId xmlns:a16="http://schemas.microsoft.com/office/drawing/2014/main" id="{0B0B35BA-FCE5-490F-B6F1-A8615D11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546B6-0755-4390-A599-966D7895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선호 기반 학습 - 2차년도 연구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23251-23F0-4C8E-BAAD-19CF3FDA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다수 사용자 피드백을 활용한 개인화 PI 모델과 제어기 학습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4008A-7D0D-48D5-9E0A-D65B5AD0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집단 선호 분포를 learned prior로 구성하고, 새 사용자의 소량 피드백으로 posterior를 갱신한 뒤 기대 보상을 최대화하는 제어 파라미터를 선택한다.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AA603-9546-46F2-875C-E9972322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Method: hierarchical Bayesian preference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42638-B01C-4D1A-9966-3DADD503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76425"/>
            <a:ext cx="716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CD6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9EE76-749B-4C37-9687-700002BF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10490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9A365-1D55-4F1F-9F94-E3335EA1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1차년도 기반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43E41-6799-4706-9851-660FA84C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52650"/>
            <a:ext cx="975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개인별 Good/Bad 피드백으로 PI 모델을 학습하고 fixed-gain / gain-scheduled controller에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13428-ADDA-474C-9179-D09E5E8F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2381250" cy="25908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11430">
            <a:solidFill>
              <a:srgbClr val="ECD6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24F59-9AF7-4FAB-8B0F-124EAD6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4803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00A24-912D-4DF9-AEF4-909350B4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146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131C8-6E93-456E-B7F9-DD8C249F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161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Trajectory 표현과</a:t>
            </a:r>
          </a:p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피드백 데이터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D435E-9F91-4AB6-99C5-DD17B3B1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038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D6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9207C-5AB0-42DB-AB7E-DE94440D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0383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CD6C1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D_u = {(z_ui, y_ui)}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B74CC-A2C0-4386-B5CE-1BD7E3F9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20383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CD6C1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y_ui in {Good, Bad}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16174-A687-4F41-8286-4E6DE1C1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- 4-s trajectory window</a:t>
            </a:r>
          </a:p>
          <a:p xmlns:a="http://schemas.openxmlformats.org/drawingml/2006/main">
            <a:pPr algn="l">
              <a:def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- ride feature extraction</a:t>
            </a:r>
          </a:p>
          <a:p xmlns:a="http://schemas.openxmlformats.org/drawingml/2006/main">
            <a:pPr algn="l">
              <a:def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- user별 binary feedback dataset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971BF-686A-44A2-850D-2C1B74E7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91075"/>
            <a:ext cx="2057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99"/>
          </a:bodyPr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defRPr>
            </a:pPr>
            <a:r>
              <a:rPr sz="848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rPr>
              <a:t>feature selection + missing-state reconstruction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08B7C-7DC9-4718-A4B9-122EEA30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2571750" cy="25908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7FC"/>
          </a:solidFill>
          <a:ln xmlns:a="http://schemas.openxmlformats.org/drawingml/2006/main" w="11430">
            <a:solidFill>
              <a:srgbClr val="CCD6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E288B-457F-4453-B18A-18BDFE67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6986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C1AF9B-8503-40F0-97CE-7ABAB8D2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146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6B0790-3E73-4190-985B-480C4013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180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계층적 Bayesian</a:t>
            </a:r>
          </a:p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보상 모델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84A13E-FBDD-404D-B2F4-5DE623E6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2228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D0EDD5-E585-42AC-BB21-763ED098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33750"/>
            <a:ext cx="22288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CD6EC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theta_u ~ N(mu, Sigma)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121758-2421-4F83-980B-94AFD048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29025"/>
            <a:ext cx="22288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CD6EC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p(y_ui=1) = sigmoid(theta_u^T z_ui)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5089E9-0082-43A4-991F-5D652AF0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62400"/>
            <a:ext cx="2152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- 사용자 간 partial pooling</a:t>
            </a:r>
          </a:p>
          <a:p xmlns:a="http://schemas.openxmlformats.org/drawingml/2006/main">
            <a:pPr algn="l">
              <a:def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- Polya-Gamma Gibbs sampling</a:t>
            </a:r>
          </a:p>
          <a:p xmlns:a="http://schemas.openxmlformats.org/drawingml/2006/main">
            <a:pPr algn="l">
              <a:def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- posterior uncertainty decomposition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76F154-3378-4AA7-AA3B-83CFD300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791075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defRPr>
            </a:pPr>
            <a:r>
              <a:rPr sz="848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population prior + individual posterior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D6E1E7-52A4-42B9-AF48-DDEAA29F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43175"/>
            <a:ext cx="2476500" cy="25908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11430">
            <a:solidFill>
              <a:srgbClr val="ECD6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CC9FDC-A4D0-4858-8F1B-E4F4E65D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4803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3B0771-5357-4C30-B53C-88449461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7146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EFD474-BA64-4E72-A925-949FB4AB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1714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새 사용자</a:t>
            </a:r>
          </a:p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Zero/Few-shot 적응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D4800E-1D67-4660-B55D-3DFFCD7C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9450"/>
            <a:ext cx="2133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D6C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222350-3609-458C-97E5-6131159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21336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CD6C1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p(theta_* | D_old)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38AA1B-5B41-489C-A53D-8B99D5AC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29025"/>
            <a:ext cx="21336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ECD6C1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D_* = 10-20 feedback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E23B14-85AB-4C2F-A242-39BF3158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62400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- learned prior로 zero-shot prediction</a:t>
            </a:r>
          </a:p>
          <a:p xmlns:a="http://schemas.openxmlformats.org/drawingml/2006/main">
            <a:pPr algn="l">
              <a:def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- 개인 피드백으로 posterior update</a:t>
            </a:r>
          </a:p>
          <a:p xmlns:a="http://schemas.openxmlformats.org/drawingml/2006/main">
            <a:pPr algn="l">
              <a:def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- posterior predictive probability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0C9C4F-1A58-4C1D-A5EC-35C1E6FB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791075"/>
            <a:ext cx="2152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defRPr>
            </a:pPr>
            <a:r>
              <a:rPr sz="848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rPr>
              <a:t>소량 피드백으로 빠른 personalization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8578C6-36C0-4006-A489-83A71C96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43175"/>
            <a:ext cx="304800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3FBF6"/>
          </a:solidFill>
          <a:ln xmlns:a="http://schemas.openxmlformats.org/drawingml/2006/main" w="11430">
            <a:solidFill>
              <a:srgbClr val="C2E1C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F96857-BD1A-4190-ADFA-F57EB89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705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52AC6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9AD182-EAF3-4CAA-994A-418E0EDC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71462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A092CF-AB6D-4FD2-9F1F-8100A45F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6700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개인화 제어기</a:t>
            </a:r>
          </a:p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최적화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B6C5CC-12E6-47E7-922C-25DD37D7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705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E1C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6C6E2C-1D2B-48F0-8CB5-9167571E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33750"/>
            <a:ext cx="270510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2E1C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c_u* = argmax_c E_s[R_u(c,s)]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B8BE71-D9F6-4754-B9B1-814B62B0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67125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- Fixed gain: Grid Search / CMA-ES</a:t>
            </a:r>
          </a:p>
          <a:p xmlns:a="http://schemas.openxmlformats.org/drawingml/2006/main">
            <a:pPr algn="l">
              <a:def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- Gain scheduling: reinforcement learning</a:t>
            </a:r>
          </a:p>
          <a:p xmlns:a="http://schemas.openxmlformats.org/drawingml/2006/main">
            <a:pPr algn="l">
              <a:def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78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- posterior uncertainty를 고려한 controller 선택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4A3284-11F2-443C-9808-8B93D554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791075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8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defRPr>
            </a:pPr>
            <a:r>
              <a:rPr sz="848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사용자별 expected reward 최대화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48853B-69EC-41CD-AE00-91471B46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385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3A35D3-E797-4FEC-889E-2FF31E30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385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41684C-1442-40B5-B1B3-761F7550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F7F6ED-CE18-4CCB-87E2-DEEF77AB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검증 결과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83601E-E02D-4F45-994E-F15C9BA2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410200"/>
            <a:ext cx="9896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CD6C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9FA72E-BD99-4B4C-81B7-9392B513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72125"/>
            <a:ext cx="1109091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898317-5F65-4DC6-A7D5-D0284E80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실제 사용자 적응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09065B-A4EC-4C00-8A32-EB80E9E3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Prior 0.7813 / Posterior 0.8381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D9A5AA-2F94-4BE4-B283-B426FE8C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76900"/>
            <a:ext cx="953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9E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92B047-00D4-42A5-A4B2-16DEC79A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578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대규모 few-shot 실험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F75A77-6BC3-4890-8588-27596D0C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886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86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100 train - 10 test - 10 feedback / AUROC 0.910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76F2AE-1416-4161-8E57-DB2E3680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76900"/>
            <a:ext cx="953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9E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BF981B-876D-4348-AC02-00C59FE1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57850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센서 제약 대응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602F8C-E197-41F1-BF57-136B2E01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8645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Bi-LSTM corr. 0.9927 / PI AUROC delta +0.02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EDD411-E046-43CF-95A5-542EFA72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1109157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EE2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5712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ext 0">
            <a:extLst xmlns:a="http://schemas.openxmlformats.org/drawingml/2006/main">
              <a:ext uri="{FF2B5EF4-FFF2-40B4-BE49-F238E27FC236}">
                <a16:creationId xmlns:a16="http://schemas.microsoft.com/office/drawing/2014/main" id="{42969DC2-D4C7-4D5C-986C-A1E358FA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00"/>
            <a:ext cx="73144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선호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학습 — 연구 사례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1">
            <a:extLst xmlns:a="http://schemas.openxmlformats.org/drawingml/2006/main">
              <a:ext uri="{FF2B5EF4-FFF2-40B4-BE49-F238E27FC236}">
                <a16:creationId xmlns:a16="http://schemas.microsoft.com/office/drawing/2014/main" id="{3F3417F2-8A6E-4B62-B4FA-9E058817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52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사람 </a:t>
            </a:r>
            <a:r>
              <a:rPr sz="25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Good/Bad</a:t>
            </a:r>
            <a:r>
              <a:rPr sz="25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피드백으로 </a:t>
            </a:r>
            <a:r>
              <a:rPr sz="25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보상모델을 학습하는 방법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Text 2">
            <a:extLst xmlns:a="http://schemas.openxmlformats.org/drawingml/2006/main">
              <a:ext uri="{FF2B5EF4-FFF2-40B4-BE49-F238E27FC236}">
                <a16:creationId xmlns:a16="http://schemas.microsoft.com/office/drawing/2014/main" id="{AC37BD1F-798B-4B50-938E-9EEE2C30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11220"/>
            <a:ext cx="11063520" cy="52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50000"/>
              </a:lnSpc>
              <a:buNone/>
              <a:tabLst>
                <a:tab pos="0" algn="l"/>
              </a:tabLst>
            </a:pP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아래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두 연구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는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사람이 평가한 동작을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reward/policy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학습으로 연결해 실제 </a:t>
            </a:r>
            <a:r>
              <a:rPr sz="104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제어시스템이 사용하는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것이 목적이다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04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50000"/>
              </a:lnSpc>
              <a:buNone/>
              <a:tabLst>
                <a:tab pos="0" algn="l"/>
              </a:tabLst>
            </a:pP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(A) PREC: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사용자별 취향을 소수의 대표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로 압축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하는 정책 제어시스템 개인화 연구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(B) LASER: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비전문가의 피드백으로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만들 때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도입하여 개인별 보정</a:t>
            </a:r>
            <a:endParaRPr sz="104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3">
            <a:extLst xmlns:a="http://schemas.openxmlformats.org/drawingml/2006/main">
              <a:ext uri="{FF2B5EF4-FFF2-40B4-BE49-F238E27FC236}">
                <a16:creationId xmlns:a16="http://schemas.microsoft.com/office/drawing/2014/main" id="{2BDC8756-41FD-464F-9E73-C1B58DC9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00438"/>
            <a:ext cx="54856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A  PREC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|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취향이 다른 많은 사람들을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몇 개의 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대표 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로 요약</a:t>
            </a:r>
            <a:endParaRPr sz="12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hape 4">
            <a:extLst xmlns:a="http://schemas.openxmlformats.org/drawingml/2006/main">
              <a:ext uri="{FF2B5EF4-FFF2-40B4-BE49-F238E27FC236}">
                <a16:creationId xmlns:a16="http://schemas.microsoft.com/office/drawing/2014/main" id="{B27F9550-25E5-4E92-9779-0B3F09D0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2318"/>
            <a:ext cx="5485680" cy="19725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bbc66bc4d47b8"/>
          <a:stretch xmlns:a="http://schemas.openxmlformats.org/drawingml/2006/main"/>
        </p:blipFill>
        <p:spPr>
          <a:xfrm xmlns:a="http://schemas.openxmlformats.org/drawingml/2006/main">
            <a:off x="621437" y="2284835"/>
            <a:ext cx="5344920" cy="16804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8" name="Text 5">
            <a:extLst xmlns:a="http://schemas.openxmlformats.org/drawingml/2006/main">
              <a:ext uri="{FF2B5EF4-FFF2-40B4-BE49-F238E27FC236}">
                <a16:creationId xmlns:a16="http://schemas.microsoft.com/office/drawing/2014/main" id="{117B94E1-D74A-4994-A4A3-34809329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40" y="3971523"/>
            <a:ext cx="5266080" cy="22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PREC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개요 — </a:t>
            </a:r>
            <a:r>
              <a:rPr sz="720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전체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 데이터로 공용 표현을 배우고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비슷한 취향을 묶어 그룹별 보상 모델과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를 학습</a:t>
            </a:r>
            <a:endParaRPr sz="7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hape 6">
            <a:extLst xmlns:a="http://schemas.openxmlformats.org/drawingml/2006/main">
              <a:ext uri="{FF2B5EF4-FFF2-40B4-BE49-F238E27FC236}">
                <a16:creationId xmlns:a16="http://schemas.microsoft.com/office/drawing/2014/main" id="{726B017F-0A7C-418D-8C97-3C78E7F8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2337"/>
            <a:ext cx="5485680" cy="10965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Text 7">
            <a:extLst xmlns:a="http://schemas.openxmlformats.org/drawingml/2006/main">
              <a:ext uri="{FF2B5EF4-FFF2-40B4-BE49-F238E27FC236}">
                <a16:creationId xmlns:a16="http://schemas.microsoft.com/office/drawing/2014/main" id="{A1B6315E-16F3-4CE1-B12D-6F61D3A2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5417"/>
            <a:ext cx="5211360" cy="95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문제 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보행 보조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장치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같은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control system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은 사용자마다 선호하는 안정성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속도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효율이 다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름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모두에게 하나의 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olicy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배포하는 것은 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비용이 싸지만 만족도가 낮고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1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인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 policy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는 데이터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검증 비용 때문에 배포가 어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려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움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sz="85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방법 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전체 데이터로 공통 표현을 먼저 학습하고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비슷한 취향의 사용자를 묶어 그룹별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과 대표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 학습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policy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수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K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는 배포 조건에 맞게 정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함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hape 8">
            <a:extLst xmlns:a="http://schemas.openxmlformats.org/drawingml/2006/main">
              <a:ext uri="{FF2B5EF4-FFF2-40B4-BE49-F238E27FC236}">
                <a16:creationId xmlns:a16="http://schemas.microsoft.com/office/drawing/2014/main" id="{A7507449-D177-476C-BC13-2830A2F5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Text 9">
            <a:extLst xmlns:a="http://schemas.openxmlformats.org/drawingml/2006/main">
              <a:ext uri="{FF2B5EF4-FFF2-40B4-BE49-F238E27FC236}">
                <a16:creationId xmlns:a16="http://schemas.microsoft.com/office/drawing/2014/main" id="{81E23905-69CD-4A65-BDB7-B8E38332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91497"/>
            <a:ext cx="176724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취향이 비슷한 사람끼리 묶임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30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명을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그룹으로 나눌 때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군집 품질이 기존 방식보다 높음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(0.54 vs 0.27)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hape 10">
            <a:extLst xmlns:a="http://schemas.openxmlformats.org/drawingml/2006/main">
              <a:ext uri="{FF2B5EF4-FFF2-40B4-BE49-F238E27FC236}">
                <a16:creationId xmlns:a16="http://schemas.microsoft.com/office/drawing/2014/main" id="{E93237E4-B71C-490F-B5CD-A472A64C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0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Text 11">
            <a:extLst xmlns:a="http://schemas.openxmlformats.org/drawingml/2006/main">
              <a:ext uri="{FF2B5EF4-FFF2-40B4-BE49-F238E27FC236}">
                <a16:creationId xmlns:a16="http://schemas.microsoft.com/office/drawing/2014/main" id="{E8F62352-8052-4172-A010-8B7210C9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480" y="5591497"/>
            <a:ext cx="158436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policy </a:t>
            </a: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수</a:t>
            </a: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는 감소</a:t>
            </a: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, </a:t>
            </a: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만족도는 증가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평균 만족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하위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30%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만족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공평성 지표가 단일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보다 높고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라벨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10~50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개 구간에서는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인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 policy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보다도 높음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hape 12">
            <a:extLst xmlns:a="http://schemas.openxmlformats.org/drawingml/2006/main">
              <a:ext uri="{FF2B5EF4-FFF2-40B4-BE49-F238E27FC236}">
                <a16:creationId xmlns:a16="http://schemas.microsoft.com/office/drawing/2014/main" id="{DB349D29-A2F1-4902-9DEB-264EE58F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8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Text 13">
            <a:extLst xmlns:a="http://schemas.openxmlformats.org/drawingml/2006/main">
              <a:ext uri="{FF2B5EF4-FFF2-40B4-BE49-F238E27FC236}">
                <a16:creationId xmlns:a16="http://schemas.microsoft.com/office/drawing/2014/main" id="{BBA170B8-799C-4407-B421-263996E0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520" y="5591497"/>
            <a:ext cx="158436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노이즈에도 순위 유지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판정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16~28%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 일부러 뒤섞어도 방법 간 순위가 크게 바뀌지 않음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 14">
            <a:extLst xmlns:a="http://schemas.openxmlformats.org/drawingml/2006/main">
              <a:ext uri="{FF2B5EF4-FFF2-40B4-BE49-F238E27FC236}">
                <a16:creationId xmlns:a16="http://schemas.microsoft.com/office/drawing/2014/main" id="{679C0411-BECD-4033-9E21-B609633B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1900438"/>
            <a:ext cx="5669294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B  LASER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| 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비전문가의 피드백으로 각각의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을 정확도 높게 학습</a:t>
            </a:r>
            <a:endParaRPr sz="12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hape 15">
            <a:extLst xmlns:a="http://schemas.openxmlformats.org/drawingml/2006/main">
              <a:ext uri="{FF2B5EF4-FFF2-40B4-BE49-F238E27FC236}">
                <a16:creationId xmlns:a16="http://schemas.microsoft.com/office/drawing/2014/main" id="{B52EA034-D085-4C92-BE40-F715E254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2242318"/>
            <a:ext cx="5485680" cy="19725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a652056074899"/>
          <a:stretch xmlns:a="http://schemas.openxmlformats.org/drawingml/2006/main"/>
        </p:blipFill>
        <p:spPr>
          <a:xfrm xmlns:a="http://schemas.openxmlformats.org/drawingml/2006/main">
            <a:off x="6233655" y="2307434"/>
            <a:ext cx="5296065" cy="1665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" name="Text 16">
            <a:extLst xmlns:a="http://schemas.openxmlformats.org/drawingml/2006/main">
              <a:ext uri="{FF2B5EF4-FFF2-40B4-BE49-F238E27FC236}">
                <a16:creationId xmlns:a16="http://schemas.microsoft.com/office/drawing/2014/main" id="{0D0965EA-E675-40CE-9B68-F7B49E18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1523"/>
            <a:ext cx="5266080" cy="22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LASER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개요 — 확실한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good/bad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를 기준점으로 두고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, skip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위치와 평가자별 성향을 함께 추정</a:t>
            </a:r>
            <a:endParaRPr sz="7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hape 17">
            <a:extLst xmlns:a="http://schemas.openxmlformats.org/drawingml/2006/main">
              <a:ext uri="{FF2B5EF4-FFF2-40B4-BE49-F238E27FC236}">
                <a16:creationId xmlns:a16="http://schemas.microsoft.com/office/drawing/2014/main" id="{857ED208-AD8B-4E34-B29C-E0CD3F37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4302337"/>
            <a:ext cx="5485680" cy="10965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Text 18">
            <a:extLst xmlns:a="http://schemas.openxmlformats.org/drawingml/2006/main">
              <a:ext uri="{FF2B5EF4-FFF2-40B4-BE49-F238E27FC236}">
                <a16:creationId xmlns:a16="http://schemas.microsoft.com/office/drawing/2014/main" id="{C54D8C90-B32E-45FD-A552-611BD8AB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00" y="4375417"/>
            <a:ext cx="5211360" cy="95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39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문제  </a:t>
            </a:r>
            <a:r>
              <a:rPr sz="839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비전문가들이 선호기반 학습을 하며 개인 보상 모델을 학습하는 경우</a:t>
            </a:r>
            <a:r>
              <a:rPr sz="839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사람들은 모두 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good/bad 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기준점이 달라 기존의 알고리즘에서는 개인의 피드백 성향에 따라 성능차이가 심하게 났음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839">
              <a:solidFill>
                <a:srgbClr val="4C5768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39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방법  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 feedback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추가 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-&gt;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애매하면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안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찍어도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된다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확실한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Good/Bad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feedback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받아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양 끝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기준점으로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Skip feedback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점수를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추정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하여 활용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 그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사람이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얼마나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관대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엄격한지에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맞춰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보정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이렇게 함으로써 서로 다른 개인이 본인의 보상모델을 학습할 때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LASER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 쓰면 모두 일관되게 좋은 성능이 안정적으로 나올 수 있음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Shape 19">
            <a:extLst xmlns:a="http://schemas.openxmlformats.org/drawingml/2006/main">
              <a:ext uri="{FF2B5EF4-FFF2-40B4-BE49-F238E27FC236}">
                <a16:creationId xmlns:a16="http://schemas.microsoft.com/office/drawing/2014/main" id="{EC4CE89E-F3D7-4953-B99F-21E99F43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Text 20">
            <a:extLst xmlns:a="http://schemas.openxmlformats.org/drawingml/2006/main">
              <a:ext uri="{FF2B5EF4-FFF2-40B4-BE49-F238E27FC236}">
                <a16:creationId xmlns:a16="http://schemas.microsoft.com/office/drawing/2014/main" id="{F3D5A93E-AC84-49C6-A7C0-ED250400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220" y="5591497"/>
            <a:ext cx="144448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task </a:t>
            </a: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평균 성능 향상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locomotion,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manipulation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task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모두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에서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다른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방식보다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성능 향상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hape 21">
            <a:extLst xmlns:a="http://schemas.openxmlformats.org/drawingml/2006/main">
              <a:ext uri="{FF2B5EF4-FFF2-40B4-BE49-F238E27FC236}">
                <a16:creationId xmlns:a16="http://schemas.microsoft.com/office/drawing/2014/main" id="{9067D058-9899-4723-A211-3F481D1D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2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Text 22">
            <a:extLst xmlns:a="http://schemas.openxmlformats.org/drawingml/2006/main">
              <a:ext uri="{FF2B5EF4-FFF2-40B4-BE49-F238E27FC236}">
                <a16:creationId xmlns:a16="http://schemas.microsoft.com/office/drawing/2014/main" id="{587C746A-5A59-4781-B02A-0D385984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240" y="5591497"/>
            <a:ext cx="176724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판정 일관성 상승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명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의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인간 대상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실험에서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허용하자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              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good/bad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판정 일관성이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4~6%p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높아짐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hape 23">
            <a:extLst xmlns:a="http://schemas.openxmlformats.org/drawingml/2006/main">
              <a:ext uri="{FF2B5EF4-FFF2-40B4-BE49-F238E27FC236}">
                <a16:creationId xmlns:a16="http://schemas.microsoft.com/office/drawing/2014/main" id="{10C7BEDF-44E9-448C-B96F-9BF27A67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6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Text 24">
            <a:extLst xmlns:a="http://schemas.openxmlformats.org/drawingml/2006/main">
              <a:ext uri="{FF2B5EF4-FFF2-40B4-BE49-F238E27FC236}">
                <a16:creationId xmlns:a16="http://schemas.microsoft.com/office/drawing/2014/main" id="{519114A6-6D5F-4B2F-A2C3-AEA1EF66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80" y="5591497"/>
            <a:ext cx="158436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skip </a:t>
            </a: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기준은 사람마다 다름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누르는 구간이 하위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17%~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상위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94%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까지 달라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사람별 보정이 필요함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hape 29">
            <a:extLst xmlns:a="http://schemas.openxmlformats.org/drawingml/2006/main">
              <a:ext uri="{FF2B5EF4-FFF2-40B4-BE49-F238E27FC236}">
                <a16:creationId xmlns:a16="http://schemas.microsoft.com/office/drawing/2014/main" id="{A4462986-8022-44F3-B9A7-8CAC3D12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1109160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484004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2026-09-18T07:39:39.5750000Z</dcterms:created>
  <dcterms:modified xsi:type="dcterms:W3CDTF">2026-09-18T07:39:39.5750000Z</dcterms:modified>
</coreProperties>
</file>