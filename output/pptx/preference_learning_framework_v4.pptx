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85d928807f4276" /><Relationship Type="http://schemas.openxmlformats.org/officeDocument/2006/relationships/extended-properties" Target="/docProps/app.xml" Id="R3fb292c6247f4b90" /><Relationship Type="http://schemas.openxmlformats.org/officeDocument/2006/relationships/officeDocument" Target="/ppt/presentation.xml" Id="R13504d17c59a43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2fb0baac714b69"/>
  </p:sldMasterIdLst>
  <p:notesMasterIdLst>
    <p:notesMasterId xmlns:r="http://schemas.openxmlformats.org/officeDocument/2006/relationships" r:id="R4f17610f9a974161"/>
  </p:notesMasterIdLst>
  <p:sldIdLst>
    <p:sldId xmlns:r="http://schemas.openxmlformats.org/officeDocument/2006/relationships" id="256" r:id="R837f1f0a45214bc7"/>
    <p:sldId xmlns:r="http://schemas.openxmlformats.org/officeDocument/2006/relationships" id="257" r:id="R9e973ca904ce4189"/>
    <p:sldId xmlns:r="http://schemas.openxmlformats.org/officeDocument/2006/relationships" id="258" r:id="R73d1c13e5a2b4b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86ea0466164127" /><Relationship Type="http://schemas.openxmlformats.org/officeDocument/2006/relationships/slideMaster" Target="/ppt/slideMasters/slideMaster1.xml" Id="Rb52fb0baac714b69" /><Relationship Type="http://schemas.openxmlformats.org/officeDocument/2006/relationships/notesMaster" Target="/ppt/notesMasters/notesMaster1.xml" Id="R4f17610f9a974161" /><Relationship Type="http://schemas.openxmlformats.org/officeDocument/2006/relationships/presProps" Target="/ppt/presProps.xml" Id="Ra36d1a8f6da0491c" /><Relationship Type="http://schemas.openxmlformats.org/officeDocument/2006/relationships/viewProps" Target="/ppt/viewProps.xml" Id="R2aabd6a785004756" /><Relationship Type="http://schemas.openxmlformats.org/officeDocument/2006/relationships/tableStyles" Target="/ppt/tableStyles.xml" Id="R59b82ad7a1bd4e5a" /><Relationship Type="http://schemas.openxmlformats.org/officeDocument/2006/relationships/slide" Target="/ppt/slides/slide1.xml" Id="R837f1f0a45214bc7" /><Relationship Type="http://schemas.openxmlformats.org/officeDocument/2006/relationships/slide" Target="/ppt/slides/slide2.xml" Id="R9e973ca904ce4189" /><Relationship Type="http://schemas.openxmlformats.org/officeDocument/2006/relationships/slide" Target="/ppt/slides/slide3.xml" Id="R73d1c13e5a2b4b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9fd2cd905b4e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179cb007dc48db" /><Relationship Type="http://schemas.openxmlformats.org/officeDocument/2006/relationships/notesMaster" Target="/ppt/notesMasters/notesMaster1.xml" Id="R1466695800bb48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bb594bc4934b1e" /><Relationship Type="http://schemas.openxmlformats.org/officeDocument/2006/relationships/notesMaster" Target="/ppt/notesMasters/notesMaster1.xml" Id="Rabfe94cd8f454d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4353936f2a43c7" /><Relationship Type="http://schemas.openxmlformats.org/officeDocument/2006/relationships/notesMaster" Target="/ppt/notesMasters/notesMaster1.xml" Id="R88628f093ad04e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source:</a:t>
            </a:r>
          </a:p>
          <a:p xmlns:a="http://schemas.openxmlformats.org/drawingml/2006/main">
            <a:r>
              <a:t>- C:/Users/Gooooood/Documents/MLCS/Lab_Project/06_TPI/월례회의/20260819_월례회의.pptx, slide 17: framework image reused and annotated.</a:t>
            </a:r>
          </a:p>
          <a:p xmlns:a="http://schemas.openxmlformats.org/drawingml/2006/main">
            <a:r>
              <a:t>Interpretation:</a:t>
            </a:r>
          </a:p>
          <a:p xmlns:a="http://schemas.openxmlformats.org/drawingml/2006/main">
            <a:r>
              <a:t>- Fixed-Gain optimization is the current second-year Bayesian-to-controller path.</a:t>
            </a:r>
          </a:p>
          <a:p xmlns:a="http://schemas.openxmlformats.org/drawingml/2006/main">
            <a:r>
              <a:t>- Gain-Scheduled RL is retained as first-year validated work and is labeled as a future Bayesian integration path.</a:t>
            </a:r>
          </a:p>
          <a:p xmlns:a="http://schemas.openxmlformats.org/drawingml/2006/main">
            <a:r>
              <a:t>- The bottom control loop is an illustrative personalization example, not a measured numerical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543e6362fd4411" /></Relationships>
</file>

<file path=ppt/slideLayouts/slideLayout1.xml><?xml version="1.0" encoding="utf-8"?>
<p:sldLayout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5b3ae0cd8b425f" /><Relationship Type="http://schemas.openxmlformats.org/officeDocument/2006/relationships/slideLayout" Target="/ppt/slideLayouts/slideLayout1.xml" Id="R827121f542ad4aca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CF19416-CB1E-4D54-8055-3212DA500C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rPr sz="4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706D0946-61BC-483D-A5A1-69093BA12FE0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7121f542ad4aca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b680b502724442" /><Relationship Type="http://schemas.openxmlformats.org/officeDocument/2006/relationships/image" Target="/ppt/media/image.png" Id="R835fbd346a764bdb" /><Relationship Type="http://schemas.openxmlformats.org/officeDocument/2006/relationships/image" Target="/ppt/media/image2.png" Id="Ra335a52c1aa34bed" /><Relationship Type="http://schemas.openxmlformats.org/officeDocument/2006/relationships/notesSlide" Target="/ppt/notesSlides/notesSlide1.xml" Id="Raa3dd591b9c646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13132d39fa4949" /><Relationship Type="http://schemas.openxmlformats.org/officeDocument/2006/relationships/image" Target="/ppt/media/image3.png" Id="R47cc7c61b8d2466a" /><Relationship Type="http://schemas.openxmlformats.org/officeDocument/2006/relationships/notesSlide" Target="/ppt/notesSlides/notesSlide2.xml" Id="Rcbfdcab9905946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30a3ddcb9a4855" /><Relationship Type="http://schemas.openxmlformats.org/officeDocument/2006/relationships/image" Target="/ppt/media/image4.png" Id="Rb1c9e47578e84b66" /><Relationship Type="http://schemas.openxmlformats.org/officeDocument/2006/relationships/image" Target="/ppt/media/image5.png" Id="Re32239340d514a14" /><Relationship Type="http://schemas.openxmlformats.org/officeDocument/2006/relationships/notesSlide" Target="/ppt/notesSlides/notesSlide3.xml" Id="R8c32d98811994f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Rounded Rectangle 64">
            <a:extLst xmlns:a="http://schemas.openxmlformats.org/drawingml/2006/main">
              <a:ext uri="{FF2B5EF4-FFF2-40B4-BE49-F238E27FC236}">
                <a16:creationId xmlns:a16="http://schemas.microsoft.com/office/drawing/2014/main" id="{846C011A-B92C-4791-A894-82CFEC03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6939" y="1994665"/>
            <a:ext cx="5468112" cy="2340864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CD6C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133" name="Rounded Rectangle 64">
            <a:extLst xmlns:a="http://schemas.openxmlformats.org/drawingml/2006/main">
              <a:ext uri="{FF2B5EF4-FFF2-40B4-BE49-F238E27FC236}">
                <a16:creationId xmlns:a16="http://schemas.microsoft.com/office/drawing/2014/main" id="{C0ACE256-385B-98D1-3CA2-503CEA44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8266" y="2481521"/>
            <a:ext cx="3809148" cy="181707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CD6C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>
              <a:ln w="3175">
                <a:solidFill>
                  <a:schemeClr val="tx1"/>
                </a:solidFill>
              </a:ln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062FD0A-0680-4ED0-A546-112E75A3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19" y="1656841"/>
            <a:ext cx="2331720" cy="2884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0"/>
              </a:spcAft>
              <a:buNone/>
            </a:pPr>
            <a:r>
              <a:rPr sz="160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왜 PBRL이 필요한가?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E8F78C7-7F26-459B-8C1B-310A83D0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9651" y="1794001"/>
            <a:ext cx="2578608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D6C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58C85D5-8568-4D5E-BF90-B3ABA282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6939" y="1656841"/>
            <a:ext cx="3017520" cy="2884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0"/>
              </a:spcAft>
              <a:buNone/>
            </a:pPr>
            <a:r>
              <a:rPr sz="160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Simple feedback의 두 형태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7291C02-3610-4A8D-942A-CD8F2EF6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4731" y="1794001"/>
            <a:ext cx="219456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D6C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3CA8E71A-7A64-48F4-B017-DEC48AA7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19" y="1994665"/>
            <a:ext cx="5285232" cy="86477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CD6C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21782B8-E68F-46C5-BD92-FB4C82A8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22" y="2067817"/>
            <a:ext cx="1677751" cy="259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0"/>
              </a:spcAft>
              <a:buNone/>
            </a:pPr>
            <a:r>
              <a:rPr sz="1400" b="1">
                <a:solidFill>
                  <a:srgbClr val="CD6F24"/>
                </a:solidFill>
                <a:latin typeface="Malgun Gothic"/>
                <a:ea typeface="Malgun Gothic"/>
                <a:cs typeface="Malgun Gothic"/>
              </a:rPr>
              <a:t>기존 접근의 한계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259DF160-F105-4937-9C92-3B50B3E9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19" y="4421109"/>
            <a:ext cx="2377440" cy="2884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0"/>
              </a:spcAft>
              <a:buNone/>
            </a:pPr>
            <a:r>
              <a:rPr sz="160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PBRL의 학습 과정</a:t>
            </a:r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DA62BD35-8BAE-4760-BB1D-E59E2956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211" y="4558269"/>
            <a:ext cx="3044952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D6C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41" name="Rounded Rectangle 40">
            <a:extLst xmlns:a="http://schemas.openxmlformats.org/drawingml/2006/main">
              <a:ext uri="{FF2B5EF4-FFF2-40B4-BE49-F238E27FC236}">
                <a16:creationId xmlns:a16="http://schemas.microsoft.com/office/drawing/2014/main" id="{51FE03CA-6A82-4991-96E8-F85A4689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19" y="4832589"/>
            <a:ext cx="1115568" cy="94183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1430">
            <a:solidFill>
              <a:srgbClr val="D3D9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42" name="Oval 41">
            <a:extLst xmlns:a="http://schemas.openxmlformats.org/drawingml/2006/main">
              <a:ext uri="{FF2B5EF4-FFF2-40B4-BE49-F238E27FC236}">
                <a16:creationId xmlns:a16="http://schemas.microsoft.com/office/drawing/2014/main" id="{0B1E149D-351A-4BBC-970D-F76E20D0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99" y="4896597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803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F354C4E6-460F-4298-B6A5-190A72A8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99" y="4943501"/>
            <a:ext cx="237744" cy="145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spcAft>
                <a:spcPts val="0"/>
              </a:spcAft>
              <a:buNone/>
            </a:pPr>
            <a:r>
              <a:rPr sz="1000" b="1">
                <a:solidFill>
                  <a:srgbClr val="E48031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51647173-144C-4330-B0B3-C7D0FD42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71" y="5160924"/>
            <a:ext cx="969264" cy="223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05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선택지</a:t>
            </a:r>
            <a:r>
              <a:rPr sz="105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제시</a:t>
            </a:r>
            <a:endParaRPr sz="1050" b="1">
              <a:solidFill>
                <a:srgbClr val="1F315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EFBD74AE-5A87-49EB-991F-A2B09770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83" y="5382968"/>
            <a:ext cx="1005840" cy="2708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현재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policy로</a:t>
            </a:r>
            <a:endParaRPr sz="700" b="0">
              <a:solidFill>
                <a:srgbClr val="515C6D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여러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선택지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를 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만든다</a:t>
            </a:r>
            <a:endParaRPr sz="700" b="0">
              <a:solidFill>
                <a:srgbClr val="515C6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70F8EB2F-622F-4E97-A324-F861AEB9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845" y="5152190"/>
            <a:ext cx="100584" cy="204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spcAft>
                <a:spcPts val="0"/>
              </a:spcAft>
              <a:buNone/>
            </a:pPr>
            <a:r>
              <a:rPr sz="1400" b="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47" name="Rounded Rectangle 46">
            <a:extLst xmlns:a="http://schemas.openxmlformats.org/drawingml/2006/main">
              <a:ext uri="{FF2B5EF4-FFF2-40B4-BE49-F238E27FC236}">
                <a16:creationId xmlns:a16="http://schemas.microsoft.com/office/drawing/2014/main" id="{CB1992CF-CBC1-4471-959E-61B5D544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2153" y="4832589"/>
            <a:ext cx="1115568" cy="94183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1430">
            <a:solidFill>
              <a:srgbClr val="D3D9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48" name="Oval 47">
            <a:extLst xmlns:a="http://schemas.openxmlformats.org/drawingml/2006/main">
              <a:ext uri="{FF2B5EF4-FFF2-40B4-BE49-F238E27FC236}">
                <a16:creationId xmlns:a16="http://schemas.microsoft.com/office/drawing/2014/main" id="{92C873DF-68E1-44FE-9269-EDBDFCB2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33" y="4896597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803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78F4889B-C5FE-46E3-AA9C-ABD7C8F2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33" y="4943501"/>
            <a:ext cx="237744" cy="145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spcAft>
                <a:spcPts val="0"/>
              </a:spcAft>
              <a:buNone/>
            </a:pPr>
            <a:r>
              <a:rPr sz="1000" b="1">
                <a:solidFill>
                  <a:srgbClr val="E48031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09F43148-0F19-42F4-8949-294FD391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305" y="5164002"/>
            <a:ext cx="969264" cy="2169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05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사람 피드백</a:t>
            </a: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E1BF2B50-114C-4419-9E36-6727568A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017" y="5382968"/>
            <a:ext cx="1005840" cy="2708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사람이</a:t>
            </a:r>
            <a:r>
              <a:rPr sz="7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선택지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를 </a:t>
            </a:r>
            <a:endParaRPr sz="700" b="0">
              <a:solidFill>
                <a:srgbClr val="515C6D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평가한다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D2258DA3-38B0-468A-83B6-DD08FBA9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251" y="5152190"/>
            <a:ext cx="100584" cy="204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spcAft>
                <a:spcPts val="0"/>
              </a:spcAft>
              <a:buNone/>
            </a:pPr>
            <a:r>
              <a:rPr sz="1400" b="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53" name="Rounded Rectangle 52">
            <a:extLst xmlns:a="http://schemas.openxmlformats.org/drawingml/2006/main">
              <a:ext uri="{FF2B5EF4-FFF2-40B4-BE49-F238E27FC236}">
                <a16:creationId xmlns:a16="http://schemas.microsoft.com/office/drawing/2014/main" id="{66D64121-12C9-48F0-9A77-9FCC429F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8087" y="4832589"/>
            <a:ext cx="1115568" cy="94183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1430">
            <a:solidFill>
              <a:srgbClr val="D3D9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54" name="Oval 53">
            <a:extLst xmlns:a="http://schemas.openxmlformats.org/drawingml/2006/main">
              <a:ext uri="{FF2B5EF4-FFF2-40B4-BE49-F238E27FC236}">
                <a16:creationId xmlns:a16="http://schemas.microsoft.com/office/drawing/2014/main" id="{2B417DB0-BFDB-4B7F-BD43-2F6D2BA3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9567" y="4896597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6986C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1125A5A2-22D8-4A16-9637-B98DB825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9567" y="4949325"/>
            <a:ext cx="237744" cy="145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spcAft>
                <a:spcPts val="0"/>
              </a:spcAft>
              <a:buNone/>
            </a:pPr>
            <a:r>
              <a:rPr sz="1000" b="1">
                <a:solidFill>
                  <a:srgbClr val="6986C5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FFC09D1D-B575-4C1F-A642-14D73362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1239" y="5164002"/>
            <a:ext cx="969264" cy="2169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05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보상모델 학습</a:t>
            </a: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AC2C1EC6-0F3F-4094-8BD8-3C2A5B1E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2951" y="5382968"/>
            <a:ext cx="1005840" cy="2708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판단 기록으로</a:t>
            </a:r>
          </a:p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보상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모델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을 배운다.</a:t>
            </a: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C2FE2426-74A1-4ECC-BC81-7C533C7B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6135" y="5152190"/>
            <a:ext cx="100584" cy="204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spcAft>
                <a:spcPts val="0"/>
              </a:spcAft>
              <a:buNone/>
            </a:pPr>
            <a:r>
              <a:rPr sz="1400" b="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59" name="Rounded Rectangle 58">
            <a:extLst xmlns:a="http://schemas.openxmlformats.org/drawingml/2006/main">
              <a:ext uri="{FF2B5EF4-FFF2-40B4-BE49-F238E27FC236}">
                <a16:creationId xmlns:a16="http://schemas.microsoft.com/office/drawing/2014/main" id="{6A8FD118-59D5-4B8B-A7E4-FBD8239B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443" y="4832589"/>
            <a:ext cx="1115568" cy="94183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1430">
            <a:solidFill>
              <a:srgbClr val="D3D9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60" name="Oval 59">
            <a:extLst xmlns:a="http://schemas.openxmlformats.org/drawingml/2006/main">
              <a:ext uri="{FF2B5EF4-FFF2-40B4-BE49-F238E27FC236}">
                <a16:creationId xmlns:a16="http://schemas.microsoft.com/office/drawing/2014/main" id="{0D4350DB-7C75-4FDE-AE66-809C4800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923" y="4896597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6986C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61" name="TextBox 60">
            <a:extLst xmlns:a="http://schemas.openxmlformats.org/drawingml/2006/main">
              <a:ext uri="{FF2B5EF4-FFF2-40B4-BE49-F238E27FC236}">
                <a16:creationId xmlns:a16="http://schemas.microsoft.com/office/drawing/2014/main" id="{2E496DB8-88E8-4288-96E7-A6BDC823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923" y="4949325"/>
            <a:ext cx="237744" cy="145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spcAft>
                <a:spcPts val="0"/>
              </a:spcAft>
              <a:buNone/>
            </a:pPr>
            <a:r>
              <a:rPr sz="1000" b="1">
                <a:solidFill>
                  <a:srgbClr val="6986C5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11AD285C-6FD3-4254-BD38-8E70C936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7595" y="5160924"/>
            <a:ext cx="969264" cy="223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05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policy </a:t>
            </a:r>
            <a:r>
              <a:rPr sz="105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학습</a:t>
            </a:r>
            <a:endParaRPr sz="1050" b="1">
              <a:solidFill>
                <a:srgbClr val="1F315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D52D0AC7-F736-46B6-8BFB-F1E1CAFE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307" y="5382968"/>
            <a:ext cx="1005840" cy="2708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학습된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보상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으로 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policy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를 학습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한다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66" name="Oval 65">
            <a:extLst xmlns:a="http://schemas.openxmlformats.org/drawingml/2006/main">
              <a:ext uri="{FF2B5EF4-FFF2-40B4-BE49-F238E27FC236}">
                <a16:creationId xmlns:a16="http://schemas.microsoft.com/office/drawing/2014/main" id="{0CC7EE3A-0958-4E36-AE89-E5074655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4954" y="2046153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03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67" name="TextBox 66">
            <a:extLst xmlns:a="http://schemas.openxmlformats.org/drawingml/2006/main">
              <a:ext uri="{FF2B5EF4-FFF2-40B4-BE49-F238E27FC236}">
                <a16:creationId xmlns:a16="http://schemas.microsoft.com/office/drawing/2014/main" id="{97883183-D55F-4AE6-AA5D-28387E22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4954" y="2129399"/>
            <a:ext cx="329184" cy="16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spcAft>
                <a:spcPts val="0"/>
              </a:spcAft>
              <a:buNone/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68" name="TextBox 67">
            <a:extLst xmlns:a="http://schemas.openxmlformats.org/drawingml/2006/main">
              <a:ext uri="{FF2B5EF4-FFF2-40B4-BE49-F238E27FC236}">
                <a16:creationId xmlns:a16="http://schemas.microsoft.com/office/drawing/2014/main" id="{816BEABE-ECEB-4E2A-93C9-DA59657C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427" y="2052402"/>
            <a:ext cx="2468880" cy="259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0"/>
              </a:spcAft>
              <a:buNone/>
            </a:pPr>
            <a:r>
              <a:rPr sz="140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pairwise feedback</a:t>
            </a:r>
          </a:p>
        </p:txBody>
      </p:sp>
      <p:sp>
        <p:nvSpPr>
          <p:cNvPr id="69" name="TextBox 68">
            <a:extLst xmlns:a="http://schemas.openxmlformats.org/drawingml/2006/main">
              <a:ext uri="{FF2B5EF4-FFF2-40B4-BE49-F238E27FC236}">
                <a16:creationId xmlns:a16="http://schemas.microsoft.com/office/drawing/2014/main" id="{3D5AA0D6-FAA7-45FB-9C9D-AA74DCC0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427" y="2305561"/>
            <a:ext cx="4663440" cy="186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0"/>
              </a:spcAft>
              <a:buNone/>
            </a:pPr>
            <a:r>
              <a:rPr sz="9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두 </a:t>
            </a:r>
            <a:r>
              <a:rPr sz="9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동작을</a:t>
            </a:r>
            <a:r>
              <a:rPr sz="9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비교해</a:t>
            </a:r>
            <a:r>
              <a:rPr sz="9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 더 </a:t>
            </a:r>
            <a:r>
              <a:rPr sz="9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나은</a:t>
            </a:r>
            <a:r>
              <a:rPr sz="9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쪽을</a:t>
            </a:r>
            <a:r>
              <a:rPr sz="9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고르는</a:t>
            </a:r>
            <a:r>
              <a:rPr sz="9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방식</a:t>
            </a:r>
            <a:endParaRPr sz="900" b="0">
              <a:solidFill>
                <a:srgbClr val="515C6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72" name="Rounded Rectangle 71">
            <a:extLst xmlns:a="http://schemas.openxmlformats.org/drawingml/2006/main">
              <a:ext uri="{FF2B5EF4-FFF2-40B4-BE49-F238E27FC236}">
                <a16:creationId xmlns:a16="http://schemas.microsoft.com/office/drawing/2014/main" id="{B9DC3FA6-D694-4606-A287-8F3A7A83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6939" y="4421109"/>
            <a:ext cx="5468112" cy="1426464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2E1C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73" name="Oval 72">
            <a:extLst xmlns:a="http://schemas.openxmlformats.org/drawingml/2006/main">
              <a:ext uri="{FF2B5EF4-FFF2-40B4-BE49-F238E27FC236}">
                <a16:creationId xmlns:a16="http://schemas.microsoft.com/office/drawing/2014/main" id="{21B3D2BB-AD9F-433F-90A4-F7E728DD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4954" y="4472597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AC6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74" name="TextBox 73">
            <a:extLst xmlns:a="http://schemas.openxmlformats.org/drawingml/2006/main">
              <a:ext uri="{FF2B5EF4-FFF2-40B4-BE49-F238E27FC236}">
                <a16:creationId xmlns:a16="http://schemas.microsoft.com/office/drawing/2014/main" id="{34CB6367-40B6-4349-8F50-BF070DD7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4954" y="4555843"/>
            <a:ext cx="329184" cy="16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spcAft>
                <a:spcPts val="0"/>
              </a:spcAft>
              <a:buNone/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75" name="TextBox 74">
            <a:extLst xmlns:a="http://schemas.openxmlformats.org/drawingml/2006/main">
              <a:ext uri="{FF2B5EF4-FFF2-40B4-BE49-F238E27FC236}">
                <a16:creationId xmlns:a16="http://schemas.microsoft.com/office/drawing/2014/main" id="{374C6A72-AD0C-4D43-B4F9-04BC0766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427" y="4478846"/>
            <a:ext cx="3017520" cy="259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0"/>
              </a:spcAft>
              <a:buNone/>
            </a:pPr>
            <a:r>
              <a:rPr sz="140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Good/Bad feedback 예시</a:t>
            </a:r>
          </a:p>
        </p:txBody>
      </p:sp>
      <p:sp>
        <p:nvSpPr>
          <p:cNvPr id="76" name="TextBox 75">
            <a:extLst xmlns:a="http://schemas.openxmlformats.org/drawingml/2006/main">
              <a:ext uri="{FF2B5EF4-FFF2-40B4-BE49-F238E27FC236}">
                <a16:creationId xmlns:a16="http://schemas.microsoft.com/office/drawing/2014/main" id="{EC671CFB-BF5F-4AFA-8CA2-C56C36A3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427" y="4732005"/>
            <a:ext cx="4663440" cy="186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9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하나의 동작의 좋고 나쁨을 고르는 방식 </a:t>
            </a:r>
            <a:r>
              <a:rPr sz="9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9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두개의 동작을 동시에 경험하기 어려울 때</a:t>
            </a:r>
            <a:r>
              <a:rPr sz="9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)</a:t>
            </a:r>
            <a:endParaRPr sz="900" b="0">
              <a:solidFill>
                <a:srgbClr val="515C6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77" name="Rounded Rectangle 76">
            <a:extLst xmlns:a="http://schemas.openxmlformats.org/drawingml/2006/main">
              <a:ext uri="{FF2B5EF4-FFF2-40B4-BE49-F238E27FC236}">
                <a16:creationId xmlns:a16="http://schemas.microsoft.com/office/drawing/2014/main" id="{AB83648C-3462-4D19-90C5-D3E8E8E3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6529" y="4933173"/>
            <a:ext cx="3808800" cy="86868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2E1C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>
              <a:ln w="3175">
                <a:solidFill>
                  <a:schemeClr val="tx1"/>
                </a:solidFill>
              </a:ln>
            </a:endParaRPr>
          </a:p>
        </p:txBody>
      </p:sp>
      <p:pic>
        <p:nvPicPr>
          <p:cNvPr id="179" name="Picture 7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5fbd346a764b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85334" y="4969749"/>
            <a:ext cx="2151321" cy="795527"/>
          </a:xfrm>
          <a:prstGeom xmlns:a="http://schemas.openxmlformats.org/drawingml/2006/main" prst="rect">
            <a:avLst/>
          </a:prstGeom>
        </p:spPr>
      </p:pic>
      <p:sp>
        <p:nvSpPr>
          <p:cNvPr id="92" name="Text 0">
            <a:extLst xmlns:a="http://schemas.openxmlformats.org/drawingml/2006/main">
              <a:ext uri="{FF2B5EF4-FFF2-40B4-BE49-F238E27FC236}">
                <a16:creationId xmlns:a16="http://schemas.microsoft.com/office/drawing/2014/main" id="{ADF4E439-8AC4-FD59-7CF1-804FDC17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7400"/>
            <a:ext cx="7314480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 spc="20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선호</a:t>
            </a:r>
            <a:r>
              <a:rPr sz="1050" b="1" u="none" spc="20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1" u="none" spc="20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기반</a:t>
            </a:r>
            <a:r>
              <a:rPr sz="1050" b="1" u="none" spc="20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 학습 — </a:t>
            </a:r>
            <a:r>
              <a:rPr sz="1050" b="1" u="none" spc="20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개요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" name="Text 1">
            <a:extLst xmlns:a="http://schemas.openxmlformats.org/drawingml/2006/main">
              <a:ext uri="{FF2B5EF4-FFF2-40B4-BE49-F238E27FC236}">
                <a16:creationId xmlns:a16="http://schemas.microsoft.com/office/drawing/2014/main" id="{41AF5563-7C0A-2A28-8396-E51C1891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520" cy="547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</a:tabLst>
            </a:pPr>
            <a:r>
              <a:rPr sz="280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선호 기반 학습 </a:t>
            </a:r>
            <a:r>
              <a:rPr sz="280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(Preference based Reinforcement Learning, PBRL)</a:t>
            </a:r>
            <a:endParaRPr sz="2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" name="Text 2">
            <a:extLst xmlns:a="http://schemas.openxmlformats.org/drawingml/2006/main">
              <a:ext uri="{FF2B5EF4-FFF2-40B4-BE49-F238E27FC236}">
                <a16:creationId xmlns:a16="http://schemas.microsoft.com/office/drawing/2014/main" id="{B645F334-0423-B42C-8A6E-7FDD75FF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88113"/>
            <a:ext cx="11063520" cy="410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</a:tabLst>
            </a:pPr>
            <a:r>
              <a:rPr sz="10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최적화를 위한 </a:t>
            </a:r>
            <a:r>
              <a:rPr sz="10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reward</a:t>
            </a:r>
            <a:r>
              <a:rPr sz="10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를 직접 설계하기 어려울 때</a:t>
            </a:r>
            <a:r>
              <a:rPr sz="10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사람의 피드백으로 </a:t>
            </a:r>
            <a:r>
              <a:rPr sz="10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reward</a:t>
            </a:r>
            <a:r>
              <a:rPr sz="10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를 학습한다</a:t>
            </a:r>
            <a:r>
              <a:rPr sz="10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.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자연스러운 로봇 동작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편안한 승차감처럼 목표를 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reward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objective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의 형태로 수식화가 어려운 경우가 많다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. PBRL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은 사람의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피드백으로 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reward model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을 학습하고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그 기준으로 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policy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를 학습한다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0" name="Shape 25">
            <a:extLst xmlns:a="http://schemas.openxmlformats.org/drawingml/2006/main">
              <a:ext uri="{FF2B5EF4-FFF2-40B4-BE49-F238E27FC236}">
                <a16:creationId xmlns:a16="http://schemas.microsoft.com/office/drawing/2014/main" id="{F5542930-BF9F-9349-CC88-6BD662A2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16240"/>
            <a:ext cx="11090880" cy="31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6"/>
          </a:solidFill>
          <a:ln xmlns:a="http://schemas.openxmlformats.org/drawingml/2006/main" w="12700">
            <a:solidFill>
              <a:srgbClr val="EEF1F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</a:pPr>
            <a:endParaRPr sz="16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2" name="Text 26">
            <a:extLst xmlns:a="http://schemas.openxmlformats.org/drawingml/2006/main">
              <a:ext uri="{FF2B5EF4-FFF2-40B4-BE49-F238E27FC236}">
                <a16:creationId xmlns:a16="http://schemas.microsoft.com/office/drawing/2014/main" id="{2FCD0537-8041-7867-C6AD-CD4EF298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5240"/>
            <a:ext cx="10880640" cy="29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정리 </a:t>
            </a:r>
            <a:r>
              <a:rPr sz="9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:  </a:t>
            </a:r>
            <a:r>
              <a:rPr sz="9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PBRL</a:t>
            </a:r>
            <a:r>
              <a:rPr sz="9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은 원하는 행동을 직접 정의하거나 시연하기 어려운 문제에서 사람의 평가로 </a:t>
            </a:r>
            <a:r>
              <a:rPr sz="9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reward</a:t>
            </a:r>
            <a:r>
              <a:rPr sz="9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를 학습하며</a:t>
            </a:r>
            <a:r>
              <a:rPr sz="9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9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특히 고객 피드백의 적용에서는 </a:t>
            </a:r>
            <a:r>
              <a:rPr sz="9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Good/Bad feedback</a:t>
            </a:r>
            <a:r>
              <a:rPr sz="9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이 실용적일 수 있다</a:t>
            </a:r>
            <a:r>
              <a:rPr sz="9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.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Shape 29">
            <a:extLst xmlns:a="http://schemas.openxmlformats.org/drawingml/2006/main">
              <a:ext uri="{FF2B5EF4-FFF2-40B4-BE49-F238E27FC236}">
                <a16:creationId xmlns:a16="http://schemas.microsoft.com/office/drawing/2014/main" id="{BB4FCA1C-740C-1F37-D484-AA5D347C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11091600" cy="3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EE2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endParaRPr sz="16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8" name="TextBox 127">
            <a:extLst xmlns:a="http://schemas.openxmlformats.org/drawingml/2006/main">
              <a:ext uri="{FF2B5EF4-FFF2-40B4-BE49-F238E27FC236}">
                <a16:creationId xmlns:a16="http://schemas.microsoft.com/office/drawing/2014/main" id="{D022FDEC-516E-C3D9-4309-F578ADA1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32" y="2270942"/>
            <a:ext cx="4990001" cy="491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sz="1000"/>
              <a:t>Imitation</a:t>
            </a:r>
            <a:r>
              <a:rPr sz="1000"/>
              <a:t> learning, </a:t>
            </a:r>
            <a:r>
              <a:rPr sz="1000"/>
              <a:t>IRL은</a:t>
            </a:r>
            <a:r>
              <a:rPr sz="1000"/>
              <a:t> </a:t>
            </a:r>
            <a:r>
              <a:rPr sz="1000"/>
              <a:t>비용이 큰 전문가의 </a:t>
            </a:r>
            <a:r>
              <a:rPr sz="1000"/>
              <a:t>demo에</a:t>
            </a:r>
            <a:r>
              <a:rPr sz="1000"/>
              <a:t> 의존</a:t>
            </a:r>
            <a:r>
              <a:rPr sz="1000"/>
              <a:t>한다</a:t>
            </a:r>
            <a:r>
              <a:rPr sz="1000"/>
              <a:t>.</a:t>
            </a:r>
          </a:p>
          <a:p xmlns:a="http://schemas.openxmlformats.org/drawingml/2006/main"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sz="1000"/>
              <a:t>자연어</a:t>
            </a:r>
            <a:r>
              <a:rPr sz="1000"/>
              <a:t> 기반 피드백</a:t>
            </a:r>
            <a:r>
              <a:rPr sz="1000"/>
              <a:t>도 유망하지만</a:t>
            </a:r>
            <a:r>
              <a:rPr sz="1000"/>
              <a:t> </a:t>
            </a:r>
            <a:r>
              <a:rPr sz="1000"/>
              <a:t>인간은  본인의 취향을 잘 설명하지 못한다</a:t>
            </a:r>
            <a:r>
              <a:rPr sz="1000"/>
              <a:t>. </a:t>
            </a:r>
            <a:endParaRPr sz="1000" b="0">
              <a:solidFill>
                <a:srgbClr val="515C6D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187" name="Picture 7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35a52c1aa34b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66900" y="2518734"/>
            <a:ext cx="3388188" cy="17600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3ED8E803-8524-5917-88E0-022F454B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54" y="2974992"/>
            <a:ext cx="5285232" cy="1309471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2E1C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4F07D94-A0D0-5EB6-B2DB-69DA2AD4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657" y="3048144"/>
            <a:ext cx="1899235" cy="259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0"/>
              </a:spcAft>
              <a:buNone/>
            </a:pPr>
            <a:r>
              <a:rPr sz="1400" b="1">
                <a:solidFill>
                  <a:srgbClr val="52AC6F"/>
                </a:solidFill>
                <a:latin typeface="Malgun Gothic"/>
                <a:ea typeface="Malgun Gothic"/>
                <a:cs typeface="Malgun Gothic"/>
              </a:rPr>
              <a:t>PBRL</a:t>
            </a:r>
            <a:r>
              <a:rPr sz="1400" b="1">
                <a:solidFill>
                  <a:srgbClr val="52AC6F"/>
                </a:solidFill>
                <a:latin typeface="Malgun Gothic"/>
                <a:ea typeface="Malgun Gothic"/>
                <a:cs typeface="Malgun Gothic"/>
              </a:rPr>
              <a:t>이 해결하는 지점</a:t>
            </a:r>
            <a:endParaRPr sz="1400" b="1">
              <a:solidFill>
                <a:srgbClr val="52AC6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1B028F5-ECD3-BB22-89D7-9B1817FEF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7" y="3251269"/>
            <a:ext cx="4990001" cy="9489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sz="10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선택지를 고르도록 유도하여 본인도 몰랐던 암묵적인 선호를 이끌어낼 수 있음</a:t>
            </a:r>
            <a:endParaRPr sz="1000">
              <a:solidFill>
                <a:srgbClr val="515C6D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sz="10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또한 피드백 실수를 하여도 노이즈가 자연스럽게 완화될 수 있기에 피드백의 질에 의존도가 비교적 낮다</a:t>
            </a:r>
            <a:endParaRPr sz="1000">
              <a:solidFill>
                <a:srgbClr val="515C6D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marL="628650" lvl="1" indent="-171450">
              <a:lnSpc>
                <a:spcPct val="150000"/>
              </a:lnSpc>
              <a:buFont typeface="Wingdings"/>
              <a:buChar char="Ø"/>
            </a:pPr>
            <a:r>
              <a:rPr sz="10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일반 고객들의 피드백을 효율적으로 활용할 수 있는 가능성</a:t>
            </a:r>
            <a:endParaRPr sz="1000">
              <a:solidFill>
                <a:srgbClr val="515C6D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24825403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White Background">
            <a:extLst xmlns:a="http://schemas.openxmlformats.org/drawingml/2006/main">
              <a:ext uri="{FF2B5EF4-FFF2-40B4-BE49-F238E27FC236}">
                <a16:creationId xmlns:a16="http://schemas.microsoft.com/office/drawing/2014/main" id="{EE346784-D2B8-40C9-B093-3CBA4186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328427-916B-408F-8136-FC11B09C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선호 기반 학습 - 2차년도 연구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CA19C6-09C5-4515-AA5E-23D3C30B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33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계층적 Bayesian 선호 추정과 개인화 제어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AFC65D-FD4D-4F7D-B06B-C806EBC1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사용자별 posterior를 고정 게인 최적화에 연결하고, 1차년도 RL은 향후 확장 경로로 구분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C0AC82-AF92-432E-B2E4-D22A764E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3375"/>
            <a:ext cx="1000125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1FAF4"/>
          </a:solidFill>
          <a:ln xmlns:a="http://schemas.openxmlformats.org/drawingml/2006/main" w="9525">
            <a:solidFill>
              <a:srgbClr val="B9DEC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328A51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328A51"/>
                </a:solidFill>
                <a:latin typeface="Malgun Gothic"/>
                <a:ea typeface="Malgun Gothic"/>
                <a:cs typeface="Malgun Gothic"/>
              </a:rPr>
              <a:t>2차년도 구현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D414A9-9D99-499C-A1C9-47FA7D8B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33375"/>
            <a:ext cx="112395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3D9E2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727B89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727B89"/>
                </a:solidFill>
                <a:latin typeface="Malgun Gothic"/>
                <a:ea typeface="Malgun Gothic"/>
                <a:cs typeface="Malgun Gothic"/>
              </a:rPr>
              <a:t>1차년도 / 확장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C703B2-3AD9-497F-965E-C8C1DAAD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3800475"/>
          </a:xfrm>
          <a:prstGeom xmlns:a="http://schemas.openxmlformats.org/drawingml/2006/main" prst="roundRect">
            <a:avLst>
              <a:gd name="adj" fmla="val 2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9E2"/>
            </a:solidFill>
            <a:prstDash val="solid"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cc7c61b8d2466a"/>
          <a:srcRect xmlns:a="http://schemas.openxmlformats.org/drawingml/2006/main" l="0" t="21045" r="0" b="210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" y="1476375"/>
            <a:ext cx="10877550" cy="35433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7D65CB-8EF5-490E-AC77-F202C147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619250"/>
            <a:ext cx="885825" cy="219075"/>
          </a:xfrm>
          <a:prstGeom xmlns:a="http://schemas.openxmlformats.org/drawingml/2006/main" prst="roundRect">
            <a:avLst>
              <a:gd name="adj" fmla="val 43478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7620">
            <a:solidFill>
              <a:srgbClr val="A9D6B7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328A51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1">
                <a:solidFill>
                  <a:srgbClr val="328A51"/>
                </a:solidFill>
                <a:latin typeface="Malgun Gothic"/>
                <a:ea typeface="Malgun Gothic"/>
                <a:cs typeface="Malgun Gothic"/>
              </a:rPr>
              <a:t>2차년도 구현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AA254A-840A-4243-BC10-5AC4190D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619250"/>
            <a:ext cx="981075" cy="219075"/>
          </a:xfrm>
          <a:prstGeom xmlns:a="http://schemas.openxmlformats.org/drawingml/2006/main" prst="roundRect">
            <a:avLst>
              <a:gd name="adj" fmla="val 43478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7620">
            <a:solidFill>
              <a:srgbClr val="D3D9E2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727B89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1">
                <a:solidFill>
                  <a:srgbClr val="727B89"/>
                </a:solidFill>
                <a:latin typeface="Malgun Gothic"/>
                <a:ea typeface="Malgun Gothic"/>
                <a:cs typeface="Malgun Gothic"/>
              </a:rPr>
              <a:t>1차년도 검증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4D242E-047E-4AFC-9F88-6D1C9D3E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2076450" cy="257175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FF9F3"/>
          </a:solidFill>
          <a:ln xmlns:a="http://schemas.openxmlformats.org/drawingml/2006/main" w="7620">
            <a:solidFill>
              <a:srgbClr val="EDD7C1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defRPr>
            </a:pPr>
            <a:r>
              <a:rPr sz="765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D_u = {(tau_ui, y_ui)}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23B6DD-CA44-49C3-A75C-9BB25231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4705350"/>
            <a:ext cx="3886200" cy="257175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5F7FC"/>
          </a:solidFill>
          <a:ln xmlns:a="http://schemas.openxmlformats.org/drawingml/2006/main" w="7620">
            <a:solidFill>
              <a:srgbClr val="CBD5E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defRPr>
            </a:pPr>
            <a:r>
              <a:rPr sz="76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p(y_ui=1 | z_ui, theta_u) = sigmoid(theta_u^T z_ui)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C89BD3-3781-48D3-B8BB-11B12EDB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705350"/>
            <a:ext cx="2905125" cy="257175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1FAF4"/>
          </a:solidFill>
          <a:ln xmlns:a="http://schemas.openxmlformats.org/drawingml/2006/main" w="7620">
            <a:solidFill>
              <a:srgbClr val="B9DEC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328A51"/>
                </a:solidFill>
                <a:latin typeface="Malgun Gothic"/>
                <a:ea typeface="Malgun Gothic"/>
                <a:cs typeface="Malgun Gothic"/>
              </a:defRPr>
            </a:pPr>
            <a:r>
              <a:rPr sz="765" b="1">
                <a:solidFill>
                  <a:srgbClr val="328A51"/>
                </a:solidFill>
                <a:latin typeface="Malgun Gothic"/>
                <a:ea typeface="Malgun Gothic"/>
                <a:cs typeface="Malgun Gothic"/>
              </a:rPr>
              <a:t>k_p,u* = argmax_k E_s[R_hat_u(k, s)]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179860-96FE-4C82-9B45-DFC6E752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438650"/>
            <a:ext cx="1285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27B89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FA401D-E383-4636-83BE-1533D4BA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400550"/>
            <a:ext cx="1762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727B89"/>
                </a:solidFill>
                <a:latin typeface="Malgun Gothic"/>
                <a:ea typeface="Malgun Gothic"/>
                <a:cs typeface="Malgun Gothic"/>
              </a:defRPr>
            </a:pPr>
            <a:r>
              <a:rPr sz="630" b="1">
                <a:solidFill>
                  <a:srgbClr val="727B89"/>
                </a:solidFill>
                <a:latin typeface="Malgun Gothic"/>
                <a:ea typeface="Malgun Gothic"/>
                <a:cs typeface="Malgun Gothic"/>
              </a:rPr>
              <a:t>Bayesian linkage: future work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2AB63D-E5CA-41AE-B3C1-78245041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직관적 개인화 예시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A83AA3-E027-4544-B626-152EF972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25780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27B89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0">
                <a:solidFill>
                  <a:srgbClr val="727B89"/>
                </a:solidFill>
                <a:latin typeface="Malgun Gothic"/>
                <a:ea typeface="Malgun Gothic"/>
                <a:cs typeface="Malgun Gothic"/>
              </a:rPr>
              <a:t>Illustrative example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5F15C1-B79D-4C5C-8A43-69A508DD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5353050"/>
            <a:ext cx="84867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D800AC-69E4-46FA-AB91-70DFC9B2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95925"/>
            <a:ext cx="1714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4F7FD"/>
          </a:solidFill>
          <a:ln xmlns:a="http://schemas.openxmlformats.org/drawingml/2006/main" w="9525">
            <a:solidFill>
              <a:srgbClr val="CAD5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3509B2-8C78-4A5F-AF14-7C48AFA4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986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07FC93-438B-475A-BFAB-686CDF7C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816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986C5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1">
                <a:solidFill>
                  <a:srgbClr val="6986C5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28DF40-CB74-469F-B6CC-54F8FC15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53075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Personalized controller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205AA8-1D15-4B61-9CAD-0A7B0163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800725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defRPr>
            </a:pPr>
            <a:r>
              <a:rPr sz="69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candidate gain k_p,u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C86868-489F-40E3-944C-CBACE7B4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495925"/>
            <a:ext cx="1676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7EF"/>
          </a:solidFill>
          <a:ln xmlns:a="http://schemas.openxmlformats.org/drawingml/2006/main" w="9525">
            <a:solidFill>
              <a:srgbClr val="ECD4B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4858B4-B696-47FF-91F6-AA6E65E1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5721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7A1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CDBABC-0BB7-4527-85AF-931229FB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5816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53A276-29A2-47D7-ACD2-0609D88A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553075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Vehicle + same bump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63DCE3-C125-4F3A-8066-B40876AE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5800725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defRPr>
            </a:pPr>
            <a:r>
              <a:rPr sz="69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trajectory tau_u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D86566-441C-42E0-8E8B-80B56FD9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495925"/>
            <a:ext cx="1809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7EF"/>
          </a:solidFill>
          <a:ln xmlns:a="http://schemas.openxmlformats.org/drawingml/2006/main" w="9525">
            <a:solidFill>
              <a:srgbClr val="ECD4B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EEAEA1-C0B9-40A7-8B68-53890A57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5721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7A1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06D3B1-EB45-46D3-8BEA-B0913C86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5816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A92478-EAE4-42D9-9268-4CC08CEB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5530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User feedback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08CAC1-7EFE-4A40-9D57-658DCDD4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5800725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defRPr>
            </a:pPr>
            <a:r>
              <a:rPr sz="69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User A: Good / User B: Bad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3FFA24-08D9-4707-B339-C0414648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95925"/>
            <a:ext cx="21717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4F7FD"/>
          </a:solidFill>
          <a:ln xmlns:a="http://schemas.openxmlformats.org/drawingml/2006/main" w="9525">
            <a:solidFill>
              <a:srgbClr val="CAD5E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22CDC6-14DA-4832-9563-0BE07DEE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5721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986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134C0A-1220-4E83-B014-16B2BBB0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5816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986C5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1">
                <a:solidFill>
                  <a:srgbClr val="6986C5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630F01-2C3E-47E3-B80D-FA413022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55307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Bayesian update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79C05E-D7C7-40B1-BCD9-4A8E341B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5800725"/>
            <a:ext cx="196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defRPr>
            </a:pPr>
            <a:r>
              <a:rPr sz="69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p(theta_A | D_A) != p(theta_B | D_B)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998C9B-862E-4B74-9079-FD32BE9F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95925"/>
            <a:ext cx="26098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1FAF4"/>
          </a:solidFill>
          <a:ln xmlns:a="http://schemas.openxmlformats.org/drawingml/2006/main" w="9525">
            <a:solidFill>
              <a:srgbClr val="B9DEC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589F70-4FB8-4899-B194-A77A705B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5721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28A5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12A928E-000D-4E5F-8776-520BF0FF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5816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328A51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1">
                <a:solidFill>
                  <a:srgbClr val="328A51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3A2E544-1F66-4F24-993E-9AED4B45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5530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Different optimal gains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83CE668-7834-4E99-ABE1-264587B9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5800725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defRPr>
            </a:pPr>
            <a:r>
              <a:rPr sz="69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k_p,A* != k_p,B* -&gt; next rollout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58C1972-5BEA-4C97-B1DB-91DC68FA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57531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3D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E5C37BF-9F4F-4C7E-AAE5-8CDE3806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7531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3D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8F84CB9-33F8-4EC6-9C7F-B0E39214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7531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3D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9F67781-72F4-4D89-8272-619923CE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57531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3D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25A5232-9F89-4EBF-9375-C8035DB1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6238875"/>
            <a:ext cx="10706100" cy="952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BEDF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5C65374-71DB-40ED-842D-224A7B1C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6172200"/>
            <a:ext cx="2809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328A51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1">
                <a:solidFill>
                  <a:srgbClr val="328A51"/>
                </a:solidFill>
                <a:latin typeface="Malgun Gothic"/>
                <a:ea typeface="Malgun Gothic"/>
                <a:cs typeface="Malgun Gothic"/>
              </a:rPr>
              <a:t>posterior-informed controller update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936251A-D543-48D3-A43B-44CE75E9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EE2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788850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Text 0">
            <a:extLst xmlns:a="http://schemas.openxmlformats.org/drawingml/2006/main">
              <a:ext uri="{FF2B5EF4-FFF2-40B4-BE49-F238E27FC236}">
                <a16:creationId xmlns:a16="http://schemas.microsoft.com/office/drawing/2014/main" id="{6BAA908C-FF58-412F-9555-C22AAE0C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7400"/>
            <a:ext cx="7314480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 spc="20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선호</a:t>
            </a:r>
            <a:r>
              <a:rPr sz="1050" b="1" u="none" spc="20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1" u="none" spc="20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기반</a:t>
            </a:r>
            <a:r>
              <a:rPr sz="1050" b="1" u="none" spc="20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 학습 — 연구 사례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Text 1">
            <a:extLst xmlns:a="http://schemas.openxmlformats.org/drawingml/2006/main">
              <a:ext uri="{FF2B5EF4-FFF2-40B4-BE49-F238E27FC236}">
                <a16:creationId xmlns:a16="http://schemas.microsoft.com/office/drawing/2014/main" id="{1BEE3300-0CD4-49AB-B531-9E12435D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520" cy="547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55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사람 </a:t>
            </a:r>
            <a:r>
              <a:rPr sz="2550" b="1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Good/Bad</a:t>
            </a:r>
            <a:r>
              <a:rPr sz="2550" b="1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55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피드백으로 </a:t>
            </a:r>
            <a:r>
              <a:rPr sz="2550" b="1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보상모델을 학습하는 방법</a:t>
            </a:r>
            <a:endParaRPr sz="2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Text 2">
            <a:extLst xmlns:a="http://schemas.openxmlformats.org/drawingml/2006/main">
              <a:ext uri="{FF2B5EF4-FFF2-40B4-BE49-F238E27FC236}">
                <a16:creationId xmlns:a16="http://schemas.microsoft.com/office/drawing/2014/main" id="{9D1F5BB9-E9DF-4388-AB82-270855D3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11220"/>
            <a:ext cx="11063520" cy="523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50000"/>
              </a:lnSpc>
              <a:buNone/>
              <a:tabLst>
                <a:tab pos="0" algn="l"/>
              </a:tabLst>
            </a:pP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아래 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두 연구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는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사람이 평가한 동작을 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reward/policy 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학습으로 연결해 실제 </a:t>
            </a:r>
            <a:r>
              <a:rPr sz="104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제어시스템이 사용하는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것이 목적이다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.</a:t>
            </a:r>
            <a:endParaRPr sz="104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50000"/>
              </a:lnSpc>
              <a:buNone/>
              <a:tabLst>
                <a:tab pos="0" algn="l"/>
              </a:tabLst>
            </a:pP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(A) PREC: 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사용자별 취향을 소수의 대표 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policy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로 압축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하는 정책 제어시스템 개인화 연구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(B) LASER: 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비전문가의 피드백으로 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reward model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을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만들 때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skip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을 도입하여 개인별 보정</a:t>
            </a:r>
            <a:endParaRPr sz="104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Text 3">
            <a:extLst xmlns:a="http://schemas.openxmlformats.org/drawingml/2006/main">
              <a:ext uri="{FF2B5EF4-FFF2-40B4-BE49-F238E27FC236}">
                <a16:creationId xmlns:a16="http://schemas.microsoft.com/office/drawing/2014/main" id="{77D5B7E9-8050-45FB-AC0E-42BE2E9F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00438"/>
            <a:ext cx="5485680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</a:tabLst>
            </a:pPr>
            <a:r>
              <a:rPr sz="1220" b="1" u="none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A  PREC </a:t>
            </a:r>
            <a:r>
              <a:rPr sz="1220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|</a:t>
            </a:r>
            <a:r>
              <a:rPr sz="1220" b="1" u="none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20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취향이 다른 많은 사람들을</a:t>
            </a:r>
            <a:r>
              <a:rPr sz="1220" b="1" u="none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 몇 개의 </a:t>
            </a:r>
            <a:r>
              <a:rPr sz="1220" b="1" u="none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대표 </a:t>
            </a:r>
            <a:r>
              <a:rPr sz="1220" b="1" u="none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policy</a:t>
            </a:r>
            <a:r>
              <a:rPr sz="1220" b="1" u="none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로 요약</a:t>
            </a:r>
            <a:endParaRPr sz="12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Shape 4">
            <a:extLst xmlns:a="http://schemas.openxmlformats.org/drawingml/2006/main">
              <a:ext uri="{FF2B5EF4-FFF2-40B4-BE49-F238E27FC236}">
                <a16:creationId xmlns:a16="http://schemas.microsoft.com/office/drawing/2014/main" id="{43997F03-A620-48D1-B579-60AD52BB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42318"/>
            <a:ext cx="5485680" cy="19725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2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8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c9e47578e84b66"/>
          <a:stretch xmlns:a="http://schemas.openxmlformats.org/drawingml/2006/main"/>
        </p:blipFill>
        <p:spPr>
          <a:xfrm xmlns:a="http://schemas.openxmlformats.org/drawingml/2006/main">
            <a:off x="621437" y="2284835"/>
            <a:ext cx="5344920" cy="16804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58" name="Text 5">
            <a:extLst xmlns:a="http://schemas.openxmlformats.org/drawingml/2006/main">
              <a:ext uri="{FF2B5EF4-FFF2-40B4-BE49-F238E27FC236}">
                <a16:creationId xmlns:a16="http://schemas.microsoft.com/office/drawing/2014/main" id="{D4EAD6D6-18DF-4FAF-B2B3-AB6C401A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40" y="3971523"/>
            <a:ext cx="5266080" cy="227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20" b="0" u="none">
                <a:solidFill>
                  <a:srgbClr val="767E8B"/>
                </a:solidFill>
                <a:latin typeface="Malgun Gothic"/>
                <a:ea typeface="Malgun Gothic"/>
                <a:cs typeface="Malgun Gothic"/>
              </a:rPr>
              <a:t>PREC </a:t>
            </a:r>
            <a:r>
              <a:rPr sz="720" b="0" u="none">
                <a:solidFill>
                  <a:srgbClr val="767E8B"/>
                </a:solidFill>
                <a:latin typeface="Malgun Gothic"/>
                <a:ea typeface="Malgun Gothic"/>
                <a:cs typeface="Malgun Gothic"/>
              </a:rPr>
              <a:t>개요 — </a:t>
            </a:r>
            <a:r>
              <a:rPr sz="720">
                <a:solidFill>
                  <a:srgbClr val="767E8B"/>
                </a:solidFill>
                <a:latin typeface="Malgun Gothic"/>
                <a:ea typeface="Malgun Gothic"/>
                <a:cs typeface="Malgun Gothic"/>
              </a:rPr>
              <a:t>전체</a:t>
            </a:r>
            <a:r>
              <a:rPr sz="720" b="0" u="none">
                <a:solidFill>
                  <a:srgbClr val="767E8B"/>
                </a:solidFill>
                <a:latin typeface="Malgun Gothic"/>
                <a:ea typeface="Malgun Gothic"/>
                <a:cs typeface="Malgun Gothic"/>
              </a:rPr>
              <a:t> 데이터로 공용 표현을 배우고</a:t>
            </a:r>
            <a:r>
              <a:rPr sz="720" b="0" u="none">
                <a:solidFill>
                  <a:srgbClr val="767E8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720" b="0" u="none">
                <a:solidFill>
                  <a:srgbClr val="767E8B"/>
                </a:solidFill>
                <a:latin typeface="Malgun Gothic"/>
                <a:ea typeface="Malgun Gothic"/>
                <a:cs typeface="Malgun Gothic"/>
              </a:rPr>
              <a:t>비슷한 취향을 묶어 그룹별 보상 모델과 </a:t>
            </a:r>
            <a:r>
              <a:rPr sz="720" b="0" u="none">
                <a:solidFill>
                  <a:srgbClr val="767E8B"/>
                </a:solidFill>
                <a:latin typeface="Malgun Gothic"/>
                <a:ea typeface="Malgun Gothic"/>
                <a:cs typeface="Malgun Gothic"/>
              </a:rPr>
              <a:t>policy</a:t>
            </a:r>
            <a:r>
              <a:rPr sz="720" b="0" u="none">
                <a:solidFill>
                  <a:srgbClr val="767E8B"/>
                </a:solidFill>
                <a:latin typeface="Malgun Gothic"/>
                <a:ea typeface="Malgun Gothic"/>
                <a:cs typeface="Malgun Gothic"/>
              </a:rPr>
              <a:t>를 학습</a:t>
            </a:r>
            <a:endParaRPr sz="7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Shape 6">
            <a:extLst xmlns:a="http://schemas.openxmlformats.org/drawingml/2006/main">
              <a:ext uri="{FF2B5EF4-FFF2-40B4-BE49-F238E27FC236}">
                <a16:creationId xmlns:a16="http://schemas.microsoft.com/office/drawing/2014/main" id="{10D31652-C9B6-4F7D-B761-D0C9C5DA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02337"/>
            <a:ext cx="5485680" cy="109656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EE2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" name="Text 7">
            <a:extLst xmlns:a="http://schemas.openxmlformats.org/drawingml/2006/main">
              <a:ext uri="{FF2B5EF4-FFF2-40B4-BE49-F238E27FC236}">
                <a16:creationId xmlns:a16="http://schemas.microsoft.com/office/drawing/2014/main" id="{C9E63371-6FDD-4EEF-841C-24721BC1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5417"/>
            <a:ext cx="5211360" cy="95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1" u="none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문제  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보행 보조 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장치 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같은 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control system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은 사용자마다 선호하는 안정성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속도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효율이 다</a:t>
            </a:r>
            <a:r>
              <a:rPr sz="85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름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모두에게 하나의 </a:t>
            </a:r>
            <a:r>
              <a:rPr sz="85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p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olicy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를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배포하는 것은 </a:t>
            </a:r>
            <a:r>
              <a:rPr sz="85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비용이 싸지만 만족도가 낮고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, 1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인 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1 policy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는 데이터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검증 비용 때문에 배포가 어</a:t>
            </a:r>
            <a:r>
              <a:rPr sz="85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려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움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.</a:t>
            </a:r>
            <a:endParaRPr sz="8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spcBef>
                <a:spcPts val="700"/>
              </a:spcBef>
              <a:buNone/>
              <a:tabLst>
                <a:tab pos="0" algn="l"/>
              </a:tabLst>
            </a:pPr>
            <a:r>
              <a:rPr sz="850" b="1" u="none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방법  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전체 데이터로 공통 표현을 먼저 학습하고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비슷한 취향의 사용자를 묶어 그룹별 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reward model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과 대표 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policy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를 학습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. policy 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수 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K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는 배포 조건에 맞게 정</a:t>
            </a:r>
            <a:r>
              <a:rPr sz="85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함</a:t>
            </a:r>
            <a:r>
              <a:rPr sz="85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.</a:t>
            </a:r>
            <a:endParaRPr sz="8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Shape 8">
            <a:extLst xmlns:a="http://schemas.openxmlformats.org/drawingml/2006/main">
              <a:ext uri="{FF2B5EF4-FFF2-40B4-BE49-F238E27FC236}">
                <a16:creationId xmlns:a16="http://schemas.microsoft.com/office/drawing/2014/main" id="{E745B0A6-5086-4840-84B0-E6EF35F3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55137"/>
            <a:ext cx="1767240" cy="80388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EE2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" name="Text 9">
            <a:extLst xmlns:a="http://schemas.openxmlformats.org/drawingml/2006/main">
              <a:ext uri="{FF2B5EF4-FFF2-40B4-BE49-F238E27FC236}">
                <a16:creationId xmlns:a16="http://schemas.microsoft.com/office/drawing/2014/main" id="{D5C65D0C-B068-45BB-8C56-9C543B23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91497"/>
            <a:ext cx="1767240" cy="73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취향이 비슷한 사람끼리 묶임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914400">
              <a:lnSpc>
                <a:spcPct val="100000"/>
              </a:lnSpc>
              <a:spcBef>
                <a:spcPts val="201"/>
              </a:spcBef>
              <a:buNone/>
              <a:tabLst>
                <a:tab pos="0" algn="l"/>
              </a:tabLst>
            </a:pP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30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명을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5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그룹으로 나눌 때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군집 품질이 기존 방식보다 높음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(0.54 vs 0.27)</a:t>
            </a:r>
            <a:endParaRPr sz="6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Shape 10">
            <a:extLst xmlns:a="http://schemas.openxmlformats.org/drawingml/2006/main">
              <a:ext uri="{FF2B5EF4-FFF2-40B4-BE49-F238E27FC236}">
                <a16:creationId xmlns:a16="http://schemas.microsoft.com/office/drawing/2014/main" id="{FFFA0D7E-86FF-49EB-8987-1C44CAEA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8040" y="5555137"/>
            <a:ext cx="1767240" cy="80388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EE2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4" name="Text 11">
            <a:extLst xmlns:a="http://schemas.openxmlformats.org/drawingml/2006/main">
              <a:ext uri="{FF2B5EF4-FFF2-40B4-BE49-F238E27FC236}">
                <a16:creationId xmlns:a16="http://schemas.microsoft.com/office/drawing/2014/main" id="{EA33475C-F743-475C-99EB-1C2A1EBE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9480" y="5591497"/>
            <a:ext cx="1584360" cy="73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policy </a:t>
            </a:r>
            <a:r>
              <a:rPr sz="10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수</a:t>
            </a:r>
            <a:r>
              <a:rPr sz="1000" b="1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는 감소</a:t>
            </a:r>
            <a:r>
              <a:rPr sz="1000" b="1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, </a:t>
            </a:r>
          </a:p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만족도는 증가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914400">
              <a:lnSpc>
                <a:spcPct val="100000"/>
              </a:lnSpc>
              <a:spcBef>
                <a:spcPts val="201"/>
              </a:spcBef>
              <a:buNone/>
              <a:tabLst>
                <a:tab pos="0" algn="l"/>
              </a:tabLst>
            </a:pP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평균 만족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하위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30%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만족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공평성 지표가 단일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policy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보다 높고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라벨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10~50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개 구간에서는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1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인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1 policy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보다도 높음</a:t>
            </a:r>
            <a:endParaRPr sz="6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Shape 12">
            <a:extLst xmlns:a="http://schemas.openxmlformats.org/drawingml/2006/main">
              <a:ext uri="{FF2B5EF4-FFF2-40B4-BE49-F238E27FC236}">
                <a16:creationId xmlns:a16="http://schemas.microsoft.com/office/drawing/2014/main" id="{EA77D0B3-DAFD-444B-B62B-F71985C1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080" y="5555137"/>
            <a:ext cx="1767240" cy="80388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EE2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" name="Text 13">
            <a:extLst xmlns:a="http://schemas.openxmlformats.org/drawingml/2006/main">
              <a:ext uri="{FF2B5EF4-FFF2-40B4-BE49-F238E27FC236}">
                <a16:creationId xmlns:a16="http://schemas.microsoft.com/office/drawing/2014/main" id="{E6B049D2-FC96-4327-B199-C829B189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8520" y="5591497"/>
            <a:ext cx="1584360" cy="73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노이즈에도 순위 유지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914400">
              <a:lnSpc>
                <a:spcPct val="100000"/>
              </a:lnSpc>
              <a:spcBef>
                <a:spcPts val="201"/>
              </a:spcBef>
              <a:buNone/>
              <a:tabLst>
                <a:tab pos="0" algn="l"/>
              </a:tabLst>
            </a:pP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판정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16~28%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를 일부러 뒤섞어도 방법 간 순위가 크게 바뀌지 않음</a:t>
            </a:r>
            <a:endParaRPr sz="6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Text 14">
            <a:extLst xmlns:a="http://schemas.openxmlformats.org/drawingml/2006/main">
              <a:ext uri="{FF2B5EF4-FFF2-40B4-BE49-F238E27FC236}">
                <a16:creationId xmlns:a16="http://schemas.microsoft.com/office/drawing/2014/main" id="{A5DFD16B-226A-4473-83E6-873EE534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840" y="1900438"/>
            <a:ext cx="5669294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</a:tabLst>
            </a:pPr>
            <a:r>
              <a:rPr sz="1220" b="1" u="none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B  LASER </a:t>
            </a:r>
            <a:r>
              <a:rPr sz="1220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|  </a:t>
            </a:r>
            <a:r>
              <a:rPr sz="1220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비전문가의 피드백으로 각각의 </a:t>
            </a:r>
            <a:r>
              <a:rPr sz="1220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reward model</a:t>
            </a:r>
            <a:r>
              <a:rPr sz="1220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을 정확도 높게 학습</a:t>
            </a:r>
            <a:endParaRPr sz="12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Shape 15">
            <a:extLst xmlns:a="http://schemas.openxmlformats.org/drawingml/2006/main">
              <a:ext uri="{FF2B5EF4-FFF2-40B4-BE49-F238E27FC236}">
                <a16:creationId xmlns:a16="http://schemas.microsoft.com/office/drawing/2014/main" id="{1E71CF1A-5C6E-409E-814B-A175FF47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840" y="2242318"/>
            <a:ext cx="5485680" cy="19725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2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0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2239340d514a14"/>
          <a:stretch xmlns:a="http://schemas.openxmlformats.org/drawingml/2006/main"/>
        </p:blipFill>
        <p:spPr>
          <a:xfrm xmlns:a="http://schemas.openxmlformats.org/drawingml/2006/main">
            <a:off x="6233655" y="2307434"/>
            <a:ext cx="5296065" cy="16651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70" name="Text 16">
            <a:extLst xmlns:a="http://schemas.openxmlformats.org/drawingml/2006/main">
              <a:ext uri="{FF2B5EF4-FFF2-40B4-BE49-F238E27FC236}">
                <a16:creationId xmlns:a16="http://schemas.microsoft.com/office/drawing/2014/main" id="{F72BD161-D5B0-42AF-AFE8-5F29C9FC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971523"/>
            <a:ext cx="5266080" cy="227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20" b="0" u="none">
                <a:solidFill>
                  <a:srgbClr val="767E8B"/>
                </a:solidFill>
                <a:latin typeface="Malgun Gothic"/>
                <a:ea typeface="Malgun Gothic"/>
                <a:cs typeface="Malgun Gothic"/>
              </a:rPr>
              <a:t>LASER </a:t>
            </a:r>
            <a:r>
              <a:rPr sz="720" b="0" u="none">
                <a:solidFill>
                  <a:srgbClr val="767E8B"/>
                </a:solidFill>
                <a:latin typeface="Malgun Gothic"/>
                <a:ea typeface="Malgun Gothic"/>
                <a:cs typeface="Malgun Gothic"/>
              </a:rPr>
              <a:t>개요 — 확실한 </a:t>
            </a:r>
            <a:r>
              <a:rPr sz="720" b="0" u="none">
                <a:solidFill>
                  <a:srgbClr val="767E8B"/>
                </a:solidFill>
                <a:latin typeface="Malgun Gothic"/>
                <a:ea typeface="Malgun Gothic"/>
                <a:cs typeface="Malgun Gothic"/>
              </a:rPr>
              <a:t>good/bad</a:t>
            </a:r>
            <a:r>
              <a:rPr sz="720" b="0" u="none">
                <a:solidFill>
                  <a:srgbClr val="767E8B"/>
                </a:solidFill>
                <a:latin typeface="Malgun Gothic"/>
                <a:ea typeface="Malgun Gothic"/>
                <a:cs typeface="Malgun Gothic"/>
              </a:rPr>
              <a:t>를 기준점으로 두고</a:t>
            </a:r>
            <a:r>
              <a:rPr sz="720" b="0" u="none">
                <a:solidFill>
                  <a:srgbClr val="767E8B"/>
                </a:solidFill>
                <a:latin typeface="Malgun Gothic"/>
                <a:ea typeface="Malgun Gothic"/>
                <a:cs typeface="Malgun Gothic"/>
              </a:rPr>
              <a:t>, skip </a:t>
            </a:r>
            <a:r>
              <a:rPr sz="720" b="0" u="none">
                <a:solidFill>
                  <a:srgbClr val="767E8B"/>
                </a:solidFill>
                <a:latin typeface="Malgun Gothic"/>
                <a:ea typeface="Malgun Gothic"/>
                <a:cs typeface="Malgun Gothic"/>
              </a:rPr>
              <a:t>위치와 평가자별 성향을 함께 추정</a:t>
            </a:r>
            <a:endParaRPr sz="7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Shape 17">
            <a:extLst xmlns:a="http://schemas.openxmlformats.org/drawingml/2006/main">
              <a:ext uri="{FF2B5EF4-FFF2-40B4-BE49-F238E27FC236}">
                <a16:creationId xmlns:a16="http://schemas.microsoft.com/office/drawing/2014/main" id="{B67E9469-41CF-488D-B8B9-18B0E072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840" y="4302337"/>
            <a:ext cx="5485680" cy="109656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EE2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2" name="Text 18">
            <a:extLst xmlns:a="http://schemas.openxmlformats.org/drawingml/2006/main">
              <a:ext uri="{FF2B5EF4-FFF2-40B4-BE49-F238E27FC236}">
                <a16:creationId xmlns:a16="http://schemas.microsoft.com/office/drawing/2014/main" id="{457CFEAF-E21F-4644-B7B0-2C7FB8CD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00" y="4375417"/>
            <a:ext cx="5211360" cy="95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39" b="1" u="none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문제  </a:t>
            </a:r>
            <a:r>
              <a:rPr sz="839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비전문가들이 선호기반 학습을 하며 개인 보상 모델을 학습하는 경우</a:t>
            </a:r>
            <a:r>
              <a:rPr sz="839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839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사람들은 모두 </a:t>
            </a:r>
            <a:r>
              <a:rPr sz="839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good/bad </a:t>
            </a:r>
            <a:r>
              <a:rPr sz="839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기준점이 달라 기존의 알고리즘에서는 개인의 피드백 성향에 따라 성능차이가 심하게 났음</a:t>
            </a:r>
            <a:r>
              <a:rPr sz="839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endParaRPr sz="839">
              <a:solidFill>
                <a:srgbClr val="4C5768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39" b="1" u="none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방법  </a:t>
            </a:r>
            <a:r>
              <a:rPr sz="80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Skip feedback</a:t>
            </a:r>
            <a:r>
              <a:rPr sz="80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을 추가 </a:t>
            </a:r>
            <a:r>
              <a:rPr sz="80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-&gt;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애매하면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안 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찍어도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된다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확실한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Good/Bad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feedback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을 받아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양 끝 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기준점으로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, Skip feedback 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점수를 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추정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하여 활용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.  그 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사람이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얼마나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관대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엄격한지에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맞춰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보정</a:t>
            </a:r>
            <a:r>
              <a:rPr sz="80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80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이렇게 함으로써 서로 다른 개인이 본인의 보상모델을 학습할 때 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LASER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를 쓰면 모두 일관되게 좋은 성능이 안정적으로 나올 수 있음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.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Shape 19">
            <a:extLst xmlns:a="http://schemas.openxmlformats.org/drawingml/2006/main">
              <a:ext uri="{FF2B5EF4-FFF2-40B4-BE49-F238E27FC236}">
                <a16:creationId xmlns:a16="http://schemas.microsoft.com/office/drawing/2014/main" id="{08425563-30B6-4FFB-B137-2FD23FE7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840" y="5555137"/>
            <a:ext cx="1767240" cy="80388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EE2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4" name="Text 20">
            <a:extLst xmlns:a="http://schemas.openxmlformats.org/drawingml/2006/main">
              <a:ext uri="{FF2B5EF4-FFF2-40B4-BE49-F238E27FC236}">
                <a16:creationId xmlns:a16="http://schemas.microsoft.com/office/drawing/2014/main" id="{2A2F49B1-2540-4804-ACC4-072C6668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220" y="5591497"/>
            <a:ext cx="1444480" cy="73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task </a:t>
            </a:r>
            <a:r>
              <a:rPr sz="10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평균 성능 향상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914400">
              <a:lnSpc>
                <a:spcPct val="100000"/>
              </a:lnSpc>
              <a:spcBef>
                <a:spcPts val="201"/>
              </a:spcBef>
              <a:buNone/>
              <a:tabLst>
                <a:tab pos="0" algn="l"/>
              </a:tabLst>
            </a:pPr>
            <a:r>
              <a:rPr sz="67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locomotion,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67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manipulation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67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task </a:t>
            </a:r>
            <a:r>
              <a:rPr sz="67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모두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에서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다른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방식보다 </a:t>
            </a:r>
            <a:r>
              <a:rPr sz="67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성능 향상</a:t>
            </a:r>
            <a:endParaRPr sz="6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Shape 21">
            <a:extLst xmlns:a="http://schemas.openxmlformats.org/drawingml/2006/main">
              <a:ext uri="{FF2B5EF4-FFF2-40B4-BE49-F238E27FC236}">
                <a16:creationId xmlns:a16="http://schemas.microsoft.com/office/drawing/2014/main" id="{F463710E-EE0B-4FDF-883D-4B6FF630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240" y="5555137"/>
            <a:ext cx="1767240" cy="80388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EE2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6" name="Text 22">
            <a:extLst xmlns:a="http://schemas.openxmlformats.org/drawingml/2006/main">
              <a:ext uri="{FF2B5EF4-FFF2-40B4-BE49-F238E27FC236}">
                <a16:creationId xmlns:a16="http://schemas.microsoft.com/office/drawing/2014/main" id="{15660D64-42D4-4751-A0D7-DEE2CDCD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240" y="5591497"/>
            <a:ext cx="1767240" cy="73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판정 일관성 상승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914400">
              <a:lnSpc>
                <a:spcPct val="100000"/>
              </a:lnSpc>
              <a:spcBef>
                <a:spcPts val="201"/>
              </a:spcBef>
              <a:buNone/>
              <a:tabLst>
                <a:tab pos="0" algn="l"/>
              </a:tabLst>
            </a:pP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33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명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의 </a:t>
            </a:r>
            <a:r>
              <a:rPr sz="67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인간 대상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실험에서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skip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을 허용하자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              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good/bad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판정 일관성이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4~6%p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높아짐</a:t>
            </a:r>
            <a:endParaRPr sz="6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Shape 23">
            <a:extLst xmlns:a="http://schemas.openxmlformats.org/drawingml/2006/main">
              <a:ext uri="{FF2B5EF4-FFF2-40B4-BE49-F238E27FC236}">
                <a16:creationId xmlns:a16="http://schemas.microsoft.com/office/drawing/2014/main" id="{6AE38742-7714-4A17-981F-80BE5472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2640" y="5555137"/>
            <a:ext cx="1767240" cy="80388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EE2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8" name="Text 24">
            <a:extLst xmlns:a="http://schemas.openxmlformats.org/drawingml/2006/main">
              <a:ext uri="{FF2B5EF4-FFF2-40B4-BE49-F238E27FC236}">
                <a16:creationId xmlns:a16="http://schemas.microsoft.com/office/drawing/2014/main" id="{FCF7BBF7-2A3E-45FD-8F38-36B28BAE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4080" y="5591497"/>
            <a:ext cx="1584360" cy="73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skip </a:t>
            </a:r>
            <a:r>
              <a:rPr sz="10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기준은 사람마다 다름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914400">
              <a:lnSpc>
                <a:spcPct val="100000"/>
              </a:lnSpc>
              <a:spcBef>
                <a:spcPts val="201"/>
              </a:spcBef>
              <a:buNone/>
              <a:tabLst>
                <a:tab pos="0" algn="l"/>
              </a:tabLst>
            </a:pP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skip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을 누르는 구간이 하위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17%~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상위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94%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까지 달라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사람별 보정이 필요함</a:t>
            </a:r>
            <a:endParaRPr sz="6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Shape 29">
            <a:extLst xmlns:a="http://schemas.openxmlformats.org/drawingml/2006/main">
              <a:ext uri="{FF2B5EF4-FFF2-40B4-BE49-F238E27FC236}">
                <a16:creationId xmlns:a16="http://schemas.microsoft.com/office/drawing/2014/main" id="{0F63B0B9-055F-471F-8772-ABA93A65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11091600" cy="3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EE2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5946089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2026-09-18T08:12:13.4970000Z</dcterms:created>
  <dcterms:modified xsi:type="dcterms:W3CDTF">2026-09-18T08:12:13.4970000Z</dcterms:modified>
</coreProperties>
</file>