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3051d1af9a43bd" /><Relationship Type="http://schemas.openxmlformats.org/officeDocument/2006/relationships/extended-properties" Target="/docProps/app.xml" Id="Rde55b85c9f4c4485" /><Relationship Type="http://schemas.openxmlformats.org/officeDocument/2006/relationships/officeDocument" Target="/ppt/presentation.xml" Id="R93a3ce5dfb8c4c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dff7187674dfa"/>
  </p:sldMasterIdLst>
  <p:notesMasterIdLst>
    <p:notesMasterId xmlns:r="http://schemas.openxmlformats.org/officeDocument/2006/relationships" r:id="R00782e252c5b4fa2"/>
  </p:notesMasterIdLst>
  <p:sldIdLst>
    <p:sldId xmlns:r="http://schemas.openxmlformats.org/officeDocument/2006/relationships" id="256" r:id="Re3f3e04535474cac"/>
    <p:sldId xmlns:r="http://schemas.openxmlformats.org/officeDocument/2006/relationships" id="257" r:id="R2fb1f3563e8d4177"/>
    <p:sldId xmlns:r="http://schemas.openxmlformats.org/officeDocument/2006/relationships" id="258" r:id="Rbbbace0f939d44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29246213b4c03" /><Relationship Type="http://schemas.openxmlformats.org/officeDocument/2006/relationships/slideMaster" Target="/ppt/slideMasters/slideMaster1.xml" Id="Raa5dff7187674dfa" /><Relationship Type="http://schemas.openxmlformats.org/officeDocument/2006/relationships/notesMaster" Target="/ppt/notesMasters/notesMaster1.xml" Id="R00782e252c5b4fa2" /><Relationship Type="http://schemas.openxmlformats.org/officeDocument/2006/relationships/presProps" Target="/ppt/presProps.xml" Id="Rfdccd9af20814aa4" /><Relationship Type="http://schemas.openxmlformats.org/officeDocument/2006/relationships/viewProps" Target="/ppt/viewProps.xml" Id="R1636fc6110424d54" /><Relationship Type="http://schemas.openxmlformats.org/officeDocument/2006/relationships/tableStyles" Target="/ppt/tableStyles.xml" Id="R225c11253f854a82" /><Relationship Type="http://schemas.openxmlformats.org/officeDocument/2006/relationships/slide" Target="/ppt/slides/slide1.xml" Id="Re3f3e04535474cac" /><Relationship Type="http://schemas.openxmlformats.org/officeDocument/2006/relationships/slide" Target="/ppt/slides/slide2.xml" Id="R2fb1f3563e8d4177" /><Relationship Type="http://schemas.openxmlformats.org/officeDocument/2006/relationships/slide" Target="/ppt/slides/slide3.xml" Id="Rbbbace0f939d44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dae8576e4a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324896c234b0d" /><Relationship Type="http://schemas.openxmlformats.org/officeDocument/2006/relationships/notesMaster" Target="/ppt/notesMasters/notesMaster1.xml" Id="Rdaed0c10a3ef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6770b3bb63451d" /><Relationship Type="http://schemas.openxmlformats.org/officeDocument/2006/relationships/notesMaster" Target="/ppt/notesMasters/notesMaster1.xml" Id="R8a7cc6e4b8fd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e095551a074137" /><Relationship Type="http://schemas.openxmlformats.org/officeDocument/2006/relationships/notesMaster" Target="/ppt/notesMasters/notesMaster1.xml" Id="Rfd75f21b847e42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sources:</a:t>
            </a:r>
          </a:p>
          <a:p xmlns:a="http://schemas.openxmlformats.org/drawingml/2006/main">
            <a:r>
              <a:t>- C:/Users/Gooooood/Documents/MLCS/Lab_Project/04_VMC/회사미팅/최종보고.pdf, pp. 39 and 56: first-year PI model and personalized controller results.</a:t>
            </a:r>
          </a:p>
          <a:p xmlns:a="http://schemas.openxmlformats.org/drawingml/2006/main">
            <a:r>
              <a:t>- C:/Users/Gooooood/Documents/MLCS/Lab_Project/06_TPI/월례회의/20260612_월례회의.pdf, pp. 39, 43 and 46: hierarchical Bayesian learned prior and real-driver prior/posterior AUROC.</a:t>
            </a:r>
          </a:p>
          <a:p xmlns:a="http://schemas.openxmlformats.org/drawingml/2006/main">
            <a:r>
              <a:t>- C:/Users/Gooooood/Documents/MLCS/Lab_Project/06_TPI/월례회의/20260715_월례회의.pdf, pp. 18 and 26: feature selection and scalable inference.</a:t>
            </a:r>
          </a:p>
          <a:p xmlns:a="http://schemas.openxmlformats.org/drawingml/2006/main">
            <a:r>
              <a:t>- C:/Users/Gooooood/Documents/MLCS/Lab_Project/06_TPI/월례회의/20260819_월례회의.pdf, pp. 14, 17 and 26: state reconstruction, end-to-end framework and personalized controller experiment.</a:t>
            </a:r>
          </a:p>
          <a:p xmlns:a="http://schemas.openxmlformats.org/drawingml/2006/main">
            <a:r>
              <a:t>Metrics shown: real-driver AUROC 0.7813 prior and 0.8381 posterior; synthetic experiment AUROC 0.910 with 100 train users, 10 test users and 10 feedback items per user; Bi-LSTM reconstruction correlation 0.9927 and downstream AUROC change +0.02.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aa46d96b1462a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dbf64d15849e1" /><Relationship Type="http://schemas.openxmlformats.org/officeDocument/2006/relationships/slideLayout" Target="/ppt/slideLayouts/slideLayout1.xml" Id="R11aff8421efc498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CD1292B-3E08-4771-BBA0-5C17F8DF4A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r>
              <a:rPr sz="4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718299-96DF-43A9-B5E8-5334ABBD1DB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8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ff8421efc498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ae7a05b6e4a24" /><Relationship Type="http://schemas.openxmlformats.org/officeDocument/2006/relationships/image" Target="/ppt/media/image.png" Id="R07f55ad3b6954d5f" /><Relationship Type="http://schemas.openxmlformats.org/officeDocument/2006/relationships/image" Target="/ppt/media/image2.png" Id="R3704106bcde641cb" /><Relationship Type="http://schemas.openxmlformats.org/officeDocument/2006/relationships/notesSlide" Target="/ppt/notesSlides/notesSlide1.xml" Id="R552f718797664a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4959fee8a40bb" /><Relationship Type="http://schemas.openxmlformats.org/officeDocument/2006/relationships/notesSlide" Target="/ppt/notesSlides/notesSlide2.xml" Id="R32a7b1cfc40246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c3d3c7c154694" /><Relationship Type="http://schemas.openxmlformats.org/officeDocument/2006/relationships/image" Target="/ppt/media/image3.png" Id="R933c92d8942b4eb1" /><Relationship Type="http://schemas.openxmlformats.org/officeDocument/2006/relationships/image" Target="/ppt/media/image4.png" Id="R96236e327f50444e" /><Relationship Type="http://schemas.openxmlformats.org/officeDocument/2006/relationships/notesSlide" Target="/ppt/notesSlides/notesSlide3.xml" Id="R2ae850fc950045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641A7551-0382-4B8F-B7EC-78527C9E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994665"/>
            <a:ext cx="5468112" cy="23408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33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C0ACE256-385B-98D1-3CA2-503CEA44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266" y="2481521"/>
            <a:ext cx="3809148" cy="18170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47BD82-8535-4658-9B8D-C92C60A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656841"/>
            <a:ext cx="23317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왜 PBRL이 필요한가?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212D7C-B0A6-4A78-8A21-FC88A48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651" y="1794001"/>
            <a:ext cx="2578608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7AED7E9-F785-4EE9-B02A-5D4910F8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1656841"/>
            <a:ext cx="301752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Simple feedback의 두 형태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AF5C90-49A2-4718-A7D3-6A5C4A45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731" y="1794001"/>
            <a:ext cx="219456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4515E8-5891-4716-AA98-BF5EAF39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1994665"/>
            <a:ext cx="5285232" cy="86477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CD6C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39ACBB-B524-46B2-9639-50092397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22" y="2067817"/>
            <a:ext cx="1677751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CD6F24"/>
                </a:solidFill>
                <a:latin typeface="Malgun Gothic"/>
                <a:ea typeface="Malgun Gothic"/>
                <a:cs typeface="Malgun Gothic"/>
              </a:rPr>
              <a:t>기존 접근의 한계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66F2CD-56AE-4B71-B9BE-EAE2715C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421109"/>
            <a:ext cx="2377440" cy="288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6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PBRL의 학습 과정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240E16F-B3E5-421C-9F2F-2E7BA781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211" y="4558269"/>
            <a:ext cx="3044952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66FD89DA-D26B-4F6C-9254-C23D6F06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9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6CFBAB59-413F-4856-865C-6D8255E7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B5083CA-DC56-44CD-BD71-1E3C07E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99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E449E1FA-A80F-4B01-B7E1-878F2856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1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제시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F57D58E-17B0-4944-A098-D78E1EAF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83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policy로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여러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만든다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DD6DA40-7D2A-48AA-95DC-46A680B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84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D5EE3133-F366-4A8E-8AFF-6586CC45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5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EA2A9A53-AA43-4A64-995D-B2F7B73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803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D7D05BC-37E3-4018-BB22-C3A0534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3" y="4943501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A37BEB28-C8FE-40FA-BE0B-614A30B8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305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사람 피드백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C6060FE8-1C5F-4F0A-BAC2-9EA1FBDC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01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7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</a:t>
            </a:r>
            <a:endParaRPr sz="7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평가한다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C541BF6B-AB94-4034-95D6-B1A470A0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251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9854F879-39A4-4741-9688-E350CEB7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087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0DE69183-7E9F-4945-BF00-37DBF96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2EF4E974-47CE-4316-818D-85C8E1D0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567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8B71B31-DCB4-490F-BDA5-792DD6A7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239" y="5164002"/>
            <a:ext cx="969264" cy="216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보상모델 학습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367630-C087-4F09-A077-BD2976C1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51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판단 기록으로</a:t>
            </a:r>
          </a:p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모델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을 배운다.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E938532-6A81-474E-B11D-F11B6B1B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135" y="5152190"/>
            <a:ext cx="100584" cy="204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400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A76AC9D3-3002-44A5-9EA6-67BD4D20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443" y="4832589"/>
            <a:ext cx="1115568" cy="94183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1430">
            <a:solidFill>
              <a:srgbClr val="D3D9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F137EBAC-6417-4015-8739-0A766602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896597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6986C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EF4DDFA1-0CA9-4FCB-8226-62EEF91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923" y="4949325"/>
            <a:ext cx="237744" cy="14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A6D05858-E379-49C7-BEF7-B21DA52D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595" y="5160924"/>
            <a:ext cx="969264" cy="223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5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학습</a:t>
            </a:r>
            <a:endParaRPr sz="1050" b="1">
              <a:solidFill>
                <a:srgbClr val="1F315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D6E48D6D-31D6-46FE-BEC4-7F036465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307" y="5382968"/>
            <a:ext cx="1005840" cy="270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학습된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보상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으로 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7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" name="Oval 65">
            <a:extLst xmlns:a="http://schemas.openxmlformats.org/drawingml/2006/main">
              <a:ext uri="{FF2B5EF4-FFF2-40B4-BE49-F238E27FC236}">
                <a16:creationId xmlns:a16="http://schemas.microsoft.com/office/drawing/2014/main" id="{B353965D-1E1E-4D9F-9BE7-4B6DABEC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046153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03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10DAF0A3-922A-4A77-AC26-8D92521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2129399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4AD65B4B-3FC2-4446-AC03-D96E993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052402"/>
            <a:ext cx="246888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pairwise feedback</a:t>
            </a: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64AA8AE6-413B-4035-AB63-F627D71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2305561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동작을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비교해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더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나은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쪽을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고르는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방식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2" name="Rounded Rectangle 71">
            <a:extLst xmlns:a="http://schemas.openxmlformats.org/drawingml/2006/main">
              <a:ext uri="{FF2B5EF4-FFF2-40B4-BE49-F238E27FC236}">
                <a16:creationId xmlns:a16="http://schemas.microsoft.com/office/drawing/2014/main" id="{9CA0CCA0-A9C1-4AFA-B018-573C6591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939" y="4421109"/>
            <a:ext cx="5468112" cy="14264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3" name="Oval 72">
            <a:extLst xmlns:a="http://schemas.openxmlformats.org/drawingml/2006/main">
              <a:ext uri="{FF2B5EF4-FFF2-40B4-BE49-F238E27FC236}">
                <a16:creationId xmlns:a16="http://schemas.microsoft.com/office/drawing/2014/main" id="{D85A8313-B24F-48B1-A04C-5242D524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472597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AC6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B0245CBC-2458-4E9B-B141-14F6887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4954" y="4555843"/>
            <a:ext cx="329184" cy="1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6F5B57B2-A4AF-4EBB-867D-D91856AE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478846"/>
            <a:ext cx="3017520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Good/Bad feedback 예시</a:t>
            </a: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87156E8D-9758-438C-ABB1-2CFE8909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427" y="4732005"/>
            <a:ext cx="4663440" cy="186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</a:pP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하나의 동작의 좋고 나쁨을 고르는 방식 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두개의 동작을 동시에 경험하기 어려울 때</a:t>
            </a:r>
            <a:r>
              <a:rPr sz="9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9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65E6D5F7-3DD1-435F-B531-74EDCDA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29" y="4933173"/>
            <a:ext cx="3808800" cy="868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n w="3175">
                <a:solidFill>
                  <a:schemeClr val="tx1"/>
                </a:solidFill>
              </a:ln>
            </a:endParaRPr>
          </a:p>
        </p:txBody>
      </p:sp>
      <p:pic>
        <p:nvPicPr>
          <p:cNvPr id="179" name="Picture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55ad3b6954d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5334" y="4969749"/>
            <a:ext cx="2151321" cy="795527"/>
          </a:xfrm>
          <a:prstGeom xmlns:a="http://schemas.openxmlformats.org/drawingml/2006/main" prst="rect">
            <a:avLst/>
          </a:prstGeom>
        </p:spPr>
      </p:pic>
      <p:sp>
        <p:nvSpPr>
          <p:cNvPr id="92" name="Text 0">
            <a:extLst xmlns:a="http://schemas.openxmlformats.org/drawingml/2006/main">
              <a:ext uri="{FF2B5EF4-FFF2-40B4-BE49-F238E27FC236}">
                <a16:creationId xmlns:a16="http://schemas.microsoft.com/office/drawing/2014/main" id="{ADF4E439-8AC4-FD59-7CF1-804FDC17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개요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">
            <a:extLst xmlns:a="http://schemas.openxmlformats.org/drawingml/2006/main">
              <a:ext uri="{FF2B5EF4-FFF2-40B4-BE49-F238E27FC236}">
                <a16:creationId xmlns:a16="http://schemas.microsoft.com/office/drawing/2014/main" id="{41AF5563-7C0A-2A28-8396-E51C1891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선호 기반 학습 </a:t>
            </a:r>
            <a:r>
              <a:rPr sz="28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(Preference based Reinforcement Learning, PBRL)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2">
            <a:extLst xmlns:a="http://schemas.openxmlformats.org/drawingml/2006/main">
              <a:ext uri="{FF2B5EF4-FFF2-40B4-BE49-F238E27FC236}">
                <a16:creationId xmlns:a16="http://schemas.microsoft.com/office/drawing/2014/main" id="{B645F334-0423-B42C-8A6E-7FDD75F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113"/>
            <a:ext cx="11063520" cy="410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최적화를 위한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직접 설계하기 어려울 때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사람의 피드백으로 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자연스러운 로봇 동작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편안한 승차감처럼 목표를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objective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의 형태로 수식화가 어려운 경우가 많다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 PBRL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은 사람의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을 학습하고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그 기준으로 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를 학습한다</a:t>
            </a:r>
            <a:r>
              <a:rPr sz="100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hape 25">
            <a:extLst xmlns:a="http://schemas.openxmlformats.org/drawingml/2006/main">
              <a:ext uri="{FF2B5EF4-FFF2-40B4-BE49-F238E27FC236}">
                <a16:creationId xmlns:a16="http://schemas.microsoft.com/office/drawing/2014/main" id="{F5542930-BF9F-9349-CC88-6BD662A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16240"/>
            <a:ext cx="11090880" cy="31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Text 26">
            <a:extLst xmlns:a="http://schemas.openxmlformats.org/drawingml/2006/main">
              <a:ext uri="{FF2B5EF4-FFF2-40B4-BE49-F238E27FC236}">
                <a16:creationId xmlns:a16="http://schemas.microsoft.com/office/drawing/2014/main" id="{2FCD0537-8041-7867-C6AD-CD4EF29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240"/>
            <a:ext cx="10880640" cy="29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정리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: 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은 원하는 행동을 직접 정의하거나 시연하기 어려운 문제에서 사람의 평가로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reward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를 학습하며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특히 고객 피드백의 적용에서는 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 feedback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이 실용적일 수 있다</a:t>
            </a:r>
            <a:r>
              <a:rPr sz="9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hape 29">
            <a:extLst xmlns:a="http://schemas.openxmlformats.org/drawingml/2006/main">
              <a:ext uri="{FF2B5EF4-FFF2-40B4-BE49-F238E27FC236}">
                <a16:creationId xmlns:a16="http://schemas.microsoft.com/office/drawing/2014/main" id="{BB4FCA1C-740C-1F37-D484-AA5D347C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6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D022FDEC-516E-C3D9-4309-F578ADA1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2" y="2270942"/>
            <a:ext cx="4990001" cy="491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Imitation</a:t>
            </a:r>
            <a:r>
              <a:rPr sz="1000"/>
              <a:t> learning, </a:t>
            </a:r>
            <a:r>
              <a:rPr sz="1000"/>
              <a:t>IRL은</a:t>
            </a:r>
            <a:r>
              <a:rPr sz="1000"/>
              <a:t> </a:t>
            </a:r>
            <a:r>
              <a:rPr sz="1000"/>
              <a:t>비용이 큰 전문가의 </a:t>
            </a:r>
            <a:r>
              <a:rPr sz="1000"/>
              <a:t>demo에</a:t>
            </a:r>
            <a:r>
              <a:rPr sz="1000"/>
              <a:t> 의존</a:t>
            </a:r>
            <a:r>
              <a:rPr sz="1000"/>
              <a:t>한다</a:t>
            </a:r>
            <a:r>
              <a:rPr sz="1000"/>
              <a:t>.</a:t>
            </a: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/>
              <a:t>자연어</a:t>
            </a:r>
            <a:r>
              <a:rPr sz="1000"/>
              <a:t> 기반 피드백</a:t>
            </a:r>
            <a:r>
              <a:rPr sz="1000"/>
              <a:t>도 유망하지만</a:t>
            </a:r>
            <a:r>
              <a:rPr sz="1000"/>
              <a:t> </a:t>
            </a:r>
            <a:r>
              <a:rPr sz="1000"/>
              <a:t>인간은  본인의 취향을 잘 설명하지 못한다</a:t>
            </a:r>
            <a:r>
              <a:rPr sz="1000"/>
              <a:t>. </a:t>
            </a:r>
            <a:endParaRPr sz="1000" b="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87" name="Picture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4106bcde641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6900" y="2518734"/>
            <a:ext cx="3388188" cy="17600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ED8E803-8524-5917-88E0-022F454B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54" y="2974992"/>
            <a:ext cx="5285232" cy="1309471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2E1C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F07D94-A0D0-5EB6-B2DB-69DA2AD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57" y="3048144"/>
            <a:ext cx="1899235" cy="25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0"/>
              </a:spcAft>
              <a:buNone/>
            </a:pP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PBRL</a:t>
            </a:r>
            <a:r>
              <a:rPr sz="140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이 해결하는 지점</a:t>
            </a:r>
            <a:endParaRPr sz="1400" b="1">
              <a:solidFill>
                <a:srgbClr val="52AC6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1B028F5-ECD3-BB22-89D7-9B1817F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7" y="3251269"/>
            <a:ext cx="4990001" cy="948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27432" tIns="27432" rIns="27432" bIns="27432" anchor="t">
            <a:sp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선택지를 고르도록 유도하여 본인도 몰랐던 암묵적인 선호를 이끌어낼 수 있음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또한 피드백 실수를 하여도 노이즈가 자연스럽게 완화될 수 있기에 피드백의 질에 의존도가 비교적 낮다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marL="628650" lvl="1" indent="-171450">
              <a:lnSpc>
                <a:spcPct val="150000"/>
              </a:lnSpc>
              <a:buFont typeface="Wingdings"/>
              <a:buChar char="Ø"/>
            </a:pPr>
            <a:r>
              <a:rPr sz="100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일반 고객들의 피드백을 효율적으로 활용할 수 있는 가능성</a:t>
            </a:r>
            <a:endParaRPr sz="1000">
              <a:solidFill>
                <a:srgbClr val="515C6D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73019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White Background">
            <a:extLst xmlns:a="http://schemas.openxmlformats.org/drawingml/2006/main">
              <a:ext uri="{FF2B5EF4-FFF2-40B4-BE49-F238E27FC236}">
                <a16:creationId xmlns:a16="http://schemas.microsoft.com/office/drawing/2014/main" id="{F2326CFD-FDE8-4A54-9182-C4541AA8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2F005-E7DB-4B2E-A825-DDD91F9D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 기반 학습 - 2차년도 연구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0CE05-95F0-40C2-92CD-B3BA24CB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적은 피드백으로 새로운 사용자의 제어기를 개인화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A2D5F-248A-4D58-BEA4-BA8E91D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1차년도는 개인별 PI 모델의 가능성을 확인했고, 2차년도는 다수 사용자 정보를 활용한 새 사용자 적응과 제어 최적화로 확장했다.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9D0D-CD9F-497D-8DEC-465A380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2차년도 핵심 방법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ECB42-A96B-492B-A6E7-B87F7AEF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71675"/>
            <a:ext cx="5715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CD6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7BBE1-DD6A-4A05-A1F3-0F76B554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19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41AAC-9E1B-45F9-B005-C55380F5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71675"/>
            <a:ext cx="1943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ECD6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73CAF-7582-45B3-A351-EC1D0C3F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75438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5C7A4-6F90-443F-90B9-74B1CDD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1차년도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09183-B7FC-42B7-B1F2-4E92ED11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86000"/>
            <a:ext cx="642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개인별 Good/Bad 피드백 - PI 모델 - 개인화 제어 가능성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A3F02-5E82-48B3-BBA8-8EE9A430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2133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2383">
            <a:solidFill>
              <a:srgbClr val="ECD6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EC266-5764-4FD4-9D64-037A6CD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4803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B1A79-8631-46CE-B28A-1967B90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99280-5D6C-4D7A-955D-33AF784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다수 사용자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피드백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B9949-69A9-485C-A34E-4912419C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790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D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4357A-D35E-4C93-BD63-D4C1848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주행 trajectory별</a:t>
            </a:r>
          </a:p>
          <a:p xmlns:a="http://schemas.openxmlformats.org/drawingml/2006/main">
            <a:pPr algn="ctr">
              <a:def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Good/Bad 평가 수집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0E7B9-0439-4252-BAD0-F8950DCA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E48031"/>
                </a:solidFill>
                <a:latin typeface="Malgun Gothic"/>
                <a:ea typeface="Malgun Gothic"/>
                <a:cs typeface="Malgun Gothic"/>
              </a:rPr>
              <a:t>개인별 데이터가 적어도 활용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33E08-F4AF-41EB-85D1-75301ED1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2133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5F7FC"/>
          </a:solidFill>
          <a:ln xmlns:a="http://schemas.openxmlformats.org/drawingml/2006/main" w="12383">
            <a:solidFill>
              <a:srgbClr val="CCD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D95D3-97EC-4E84-B3BC-001200B3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986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D9D25-A780-4D1A-B27C-52FD394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F368C-0314-457B-85E3-76DF0A0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95600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계층적 Bayesian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PI 모델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6F6E4-FD9D-4D64-A1C6-4CD02A9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19475"/>
            <a:ext cx="1790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1C6E4-1018-47F2-982D-B6BC8D0F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62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집단 prior와 개인 posterior를</a:t>
            </a:r>
          </a:p>
          <a:p xmlns:a="http://schemas.openxmlformats.org/drawingml/2006/main">
            <a:pPr algn="ctr">
              <a:def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함께 학습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9AD45-30D0-4633-A27F-6B79B889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86225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선호 차이와 불확실성 추정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847CB-99A8-42E3-8B28-1E0920A5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1336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12383">
            <a:solidFill>
              <a:srgbClr val="C2E1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0CE3D1-F9F7-4569-BD86-40D4A796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2AC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FB90A-E2EB-4CF7-96F8-188EF950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6CA7A-B717-49CC-BFF1-EF28921C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개인화 제어기</a:t>
            </a:r>
          </a:p>
          <a:p xmlns:a="http://schemas.openxmlformats.org/drawingml/2006/main">
            <a:pPr algn="l">
              <a:def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최적화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52BEBB-0DFB-4FE3-9C39-00AF1722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19475"/>
            <a:ext cx="1790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2E1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229C1-4A2F-47BF-A66D-736FF60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623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Grid Search / CMA-ES로</a:t>
            </a:r>
          </a:p>
          <a:p xmlns:a="http://schemas.openxmlformats.org/drawingml/2006/main">
            <a:pPr algn="ctr">
              <a:def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사용자별 최적 k_p 선택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8A79F-7894-4960-AC08-8BD540E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1790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고정 gain부터 RL scheduling까지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5DCDD0-9F7D-4CAE-99AA-1030AFD3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563347-B3E1-4B9F-8A62-CB8D8E60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052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3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47048B-7AC7-483D-9EF2-09D4173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7543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9525">
            <a:solidFill>
              <a:srgbClr val="C2E1C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6FD48-C58E-45D1-A5D1-9CD2CD3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712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새 사용자에게 적은 피드백만 추가해 개인 PI 모델을 빠르게 보정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D1A00-C8A3-4A05-AFFE-EC6494BE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764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실제 사용자 적응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65410-639A-4BB2-A7B2-325F7191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Prior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AC85FA-3C04-45CA-9A5E-1057FEC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717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717B8A"/>
                </a:solidFill>
                <a:latin typeface="Malgun Gothic"/>
                <a:ea typeface="Malgun Gothic"/>
                <a:cs typeface="Malgun Gothic"/>
              </a:rPr>
              <a:t>Posterior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356C7E-4E4C-4311-8131-2A4CD3E0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0.7813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FD2539-40F0-4582-9C8E-871D4497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622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0.8381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AEE7DD-B8F8-4D5A-9C2B-12B28EEB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384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C94BDC-B4CB-4149-9DC5-219C6DF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3524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D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014A3A-15C2-43DD-AFBA-4BC1173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527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개인 피드백 반영 후 AUROC 향상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2E4F82-A0FF-4863-800C-14E89D09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57575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6BB0C8-23EA-4027-851E-884516E7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2AC6F"/>
                </a:solidFill>
                <a:latin typeface="Malgun Gothic"/>
                <a:ea typeface="Malgun Gothic"/>
                <a:cs typeface="Malgun Gothic"/>
              </a:rPr>
              <a:t>AUROC 0.910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28E69C-A31D-4899-A3AF-7FF772E0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100 train / 10 test, 피드백 10개/사용자</a:t>
            </a:r>
          </a:p>
          <a:p xmlns:a="http://schemas.openxmlformats.org/drawingml/2006/main">
            <a:pPr algn="ctr">
              <a:def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가상 사용자 기반 확장성 검증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19D3C3-6937-438A-9AAE-B40F3EC4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95800"/>
            <a:ext cx="3105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D9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170684-2F81-4865-A5DC-3C5597FA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986C5"/>
                </a:solidFill>
                <a:latin typeface="Malgun Gothic"/>
                <a:ea typeface="Malgun Gothic"/>
                <a:cs typeface="Malgun Gothic"/>
              </a:rPr>
              <a:t>corr. 0.9927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9A7DC6-275D-4C6B-8CE9-A0F04B4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19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Bi-LSTM bounce-rate 복원</a:t>
            </a:r>
          </a:p>
          <a:p xmlns:a="http://schemas.openxmlformats.org/drawingml/2006/main">
            <a:pPr algn="ctr">
              <a:def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15C6D"/>
                </a:solidFill>
                <a:latin typeface="Malgun Gothic"/>
                <a:ea typeface="Malgun Gothic"/>
                <a:cs typeface="Malgun Gothic"/>
              </a:rPr>
              <a:t>PI AUROC 변화 +0.02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F6AF36-8279-4107-AFEE-D903A51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34050"/>
            <a:ext cx="1109091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29B806-AE33-4D8C-89E7-41B294F3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3157"/>
                </a:solidFill>
                <a:latin typeface="Malgun Gothic"/>
                <a:ea typeface="Malgun Gothic"/>
                <a:cs typeface="Malgun Gothic"/>
              </a:rPr>
              <a:t>정리: 다수 사용자의 선호 분포를 학습해 개인 피드백이 적은 사용자까지 제어 파라미터를 개인화한다.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B327C7-5E67-4C0D-B493-4183A55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57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EE2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4374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 0">
            <a:extLst xmlns:a="http://schemas.openxmlformats.org/drawingml/2006/main">
              <a:ext uri="{FF2B5EF4-FFF2-40B4-BE49-F238E27FC236}">
                <a16:creationId xmlns:a16="http://schemas.microsoft.com/office/drawing/2014/main" id="{8E70ECFE-72BC-47DB-AE7B-0B7A7B6B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00"/>
            <a:ext cx="73144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050" b="1" u="none" spc="20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학습 — 연구 사례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1">
            <a:extLst xmlns:a="http://schemas.openxmlformats.org/drawingml/2006/main">
              <a:ext uri="{FF2B5EF4-FFF2-40B4-BE49-F238E27FC236}">
                <a16:creationId xmlns:a16="http://schemas.microsoft.com/office/drawing/2014/main" id="{1353C8C5-4247-4E96-A4EB-B7C8465F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520" cy="54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사람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피드백으로 </a:t>
            </a:r>
            <a:r>
              <a:rPr sz="255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보상모델을 학습하는 방법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">
            <a:extLst xmlns:a="http://schemas.openxmlformats.org/drawingml/2006/main">
              <a:ext uri="{FF2B5EF4-FFF2-40B4-BE49-F238E27FC236}">
                <a16:creationId xmlns:a16="http://schemas.microsoft.com/office/drawing/2014/main" id="{5AD00605-3194-4209-8EB8-E8CFCDA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11220"/>
            <a:ext cx="11063520" cy="523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아래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두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사람이 평가한 동작을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reward/policy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학습으로 연결해 실제 </a:t>
            </a:r>
            <a:r>
              <a:rPr sz="104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제어시스템이 사용하는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것이 목적이다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50000"/>
              </a:lnSpc>
              <a:buNone/>
              <a:tabLst>
                <a:tab pos="0" algn="l"/>
              </a:tabLst>
            </a:pP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(A) PREC: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사용자별 취향을 소수의 대표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로 압축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하는 정책 제어시스템 개인화 연구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(B) LASER: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비전문가의 피드백으로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만들 때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104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도입하여 개인별 보정</a:t>
            </a:r>
            <a:endParaRPr sz="104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3">
            <a:extLst xmlns:a="http://schemas.openxmlformats.org/drawingml/2006/main">
              <a:ext uri="{FF2B5EF4-FFF2-40B4-BE49-F238E27FC236}">
                <a16:creationId xmlns:a16="http://schemas.microsoft.com/office/drawing/2014/main" id="{ED5D73EE-649D-4DBB-9F18-465863BD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00438"/>
            <a:ext cx="5485680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A  PREC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취향이 다른 많은 사람들을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 몇 개의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대표 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로 요약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4">
            <a:extLst xmlns:a="http://schemas.openxmlformats.org/drawingml/2006/main">
              <a:ext uri="{FF2B5EF4-FFF2-40B4-BE49-F238E27FC236}">
                <a16:creationId xmlns:a16="http://schemas.microsoft.com/office/drawing/2014/main" id="{131076B4-F95C-46C8-8335-BE7D99E4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2318"/>
            <a:ext cx="5485680" cy="1972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8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c92d8942b4eb1"/>
          <a:stretch xmlns:a="http://schemas.openxmlformats.org/drawingml/2006/main"/>
        </p:blipFill>
        <p:spPr>
          <a:xfrm xmlns:a="http://schemas.openxmlformats.org/drawingml/2006/main">
            <a:off x="621437" y="2284835"/>
            <a:ext cx="5344920" cy="16804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8" name="Text 5">
            <a:extLst xmlns:a="http://schemas.openxmlformats.org/drawingml/2006/main">
              <a:ext uri="{FF2B5EF4-FFF2-40B4-BE49-F238E27FC236}">
                <a16:creationId xmlns:a16="http://schemas.microsoft.com/office/drawing/2014/main" id="{530BED61-E8CA-4676-A359-B93BE3D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PREC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</a:t>
            </a:r>
            <a:r>
              <a:rPr sz="720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 데이터로 공용 표현을 배우고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비슷한 취향을 묶어 그룹별 보상 모델과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학습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8295B0DB-FA5E-42C5-A538-4F044166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9ABCCB4F-C39E-494E-B428-06B91B6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보행 보조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장치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control system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은 사용자마다 선호하는 안정성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속도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효율이 다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름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모두에게 하나의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배포하는 것은 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비용이 싸지만 만족도가 낮고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1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데이터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검증 비용 때문에 배포가 어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려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움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sz="85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전체 데이터로 공통 표현을 먼저 학습하고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비슷한 취향의 사용자를 묶어 그룹별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과 대표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학습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policy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수 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K</a:t>
            </a:r>
            <a:r>
              <a:rPr sz="85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는 배포 조건에 맞게 정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함</a:t>
            </a:r>
            <a:r>
              <a:rPr sz="85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EDF83C0-6924-4CD6-BA29-616AD81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3F2E51F4-4490-44DE-A98A-9B8DC43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취향이 비슷한 사람끼리 묶임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그룹으로 나눌 때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군집 품질이 기존 방식보다 높음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(0.54 vs 0.27)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964F3A02-25BF-48C8-A8A3-16FD4FA0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0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 11">
            <a:extLst xmlns:a="http://schemas.openxmlformats.org/drawingml/2006/main">
              <a:ext uri="{FF2B5EF4-FFF2-40B4-BE49-F238E27FC236}">
                <a16:creationId xmlns:a16="http://schemas.microsoft.com/office/drawing/2014/main" id="{DAD5C6B9-B569-4212-9D8D-1CEAA4AD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policy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수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는 감소</a:t>
            </a: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, 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만족도는 증가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평균 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30%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만족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공평성 지표가 단일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 높고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라벨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10~50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개 구간에서는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 policy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보다도 높음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0F69D526-91C8-4336-A051-F69AB47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8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Text 13">
            <a:extLst xmlns:a="http://schemas.openxmlformats.org/drawingml/2006/main">
              <a:ext uri="{FF2B5EF4-FFF2-40B4-BE49-F238E27FC236}">
                <a16:creationId xmlns:a16="http://schemas.microsoft.com/office/drawing/2014/main" id="{0A4D0A4D-8616-41B4-AD71-BEB353C3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52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노이즈에도 순위 유지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16~28%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일부러 뒤섞어도 방법 간 순위가 크게 바뀌지 않음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CB5533C3-6EC2-4CF1-90D5-F5B43144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1900438"/>
            <a:ext cx="5669294" cy="27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tabLst>
                <a:tab pos="0" algn="l"/>
              </a:tabLst>
            </a:pPr>
            <a:r>
              <a:rPr sz="1220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B  LASER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| 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비전문가의 피드백으로 각각의 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reward model</a:t>
            </a:r>
            <a:r>
              <a:rPr sz="1220" b="1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을 정확도 높게 학습</a:t>
            </a:r>
            <a:endParaRPr sz="12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hape 15">
            <a:extLst xmlns:a="http://schemas.openxmlformats.org/drawingml/2006/main">
              <a:ext uri="{FF2B5EF4-FFF2-40B4-BE49-F238E27FC236}">
                <a16:creationId xmlns:a16="http://schemas.microsoft.com/office/drawing/2014/main" id="{83E5ED1C-AB1B-44D8-A5D5-8C587EE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2242318"/>
            <a:ext cx="5485680" cy="19725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36e327f50444e"/>
          <a:stretch xmlns:a="http://schemas.openxmlformats.org/drawingml/2006/main"/>
        </p:blipFill>
        <p:spPr>
          <a:xfrm xmlns:a="http://schemas.openxmlformats.org/drawingml/2006/main">
            <a:off x="6233655" y="2307434"/>
            <a:ext cx="5296065" cy="16651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" name="Text 16">
            <a:extLst xmlns:a="http://schemas.openxmlformats.org/drawingml/2006/main">
              <a:ext uri="{FF2B5EF4-FFF2-40B4-BE49-F238E27FC236}">
                <a16:creationId xmlns:a16="http://schemas.microsoft.com/office/drawing/2014/main" id="{66133767-F6C1-40A3-92A2-94449C70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1523"/>
            <a:ext cx="526608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LASER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개요 — 확실한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good/bad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를 기준점으로 두고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, skip </a:t>
            </a:r>
            <a:r>
              <a:rPr sz="720" b="0" u="none">
                <a:solidFill>
                  <a:srgbClr val="767E8B"/>
                </a:solidFill>
                <a:latin typeface="Malgun Gothic"/>
                <a:ea typeface="Malgun Gothic"/>
                <a:cs typeface="Malgun Gothic"/>
              </a:rPr>
              <a:t>위치와 평가자별 성향을 함께 추정</a:t>
            </a:r>
            <a:endParaRPr sz="7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Shape 17">
            <a:extLst xmlns:a="http://schemas.openxmlformats.org/drawingml/2006/main">
              <a:ext uri="{FF2B5EF4-FFF2-40B4-BE49-F238E27FC236}">
                <a16:creationId xmlns:a16="http://schemas.microsoft.com/office/drawing/2014/main" id="{1AFFA4EC-FC2C-46CB-817A-BCBA89BF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4302337"/>
            <a:ext cx="5485680" cy="10965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Text 18">
            <a:extLst xmlns:a="http://schemas.openxmlformats.org/drawingml/2006/main">
              <a:ext uri="{FF2B5EF4-FFF2-40B4-BE49-F238E27FC236}">
                <a16:creationId xmlns:a16="http://schemas.microsoft.com/office/drawing/2014/main" id="{BF383491-67CB-427A-9FE6-789BF765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00" y="4375417"/>
            <a:ext cx="5211360" cy="95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문제  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비전문가들이 선호기반 학습을 하며 개인 보상 모델을 학습하는 경우</a:t>
            </a:r>
            <a:r>
              <a:rPr sz="839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사람들은 모두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기준점이 달라 기존의 알고리즘에서는 개인의 피드백 성향에 따라 성능차이가 심하게 났음</a:t>
            </a:r>
            <a:r>
              <a:rPr sz="839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839">
              <a:solidFill>
                <a:srgbClr val="4C5768"/>
              </a:solidFill>
              <a:latin typeface="Malgun Gothic"/>
              <a:ea typeface="Malgun Gothic"/>
              <a:cs typeface="Malgun Gothic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39" b="1" u="none">
                <a:solidFill>
                  <a:srgbClr val="E07A1F"/>
                </a:solidFill>
                <a:latin typeface="Malgun Gothic"/>
                <a:ea typeface="Malgun Gothic"/>
                <a:cs typeface="Malgun Gothic"/>
              </a:rPr>
              <a:t>방법 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 feedback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추가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-&gt;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애매하면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안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찍어도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된다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확실한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Good/Bad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feedback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받아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양 끝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기준점으로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Skip feedback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점수를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하여 활용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 그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사람이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얼마나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관대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엄격한지에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맞춰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보정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80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이렇게 함으로써 서로 다른 개인이 본인의 보상모델을 학습할 때 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LASER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를 쓰면 모두 일관되게 좋은 성능이 안정적으로 나올 수 있음</a:t>
            </a:r>
            <a:r>
              <a:rPr sz="80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.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9">
            <a:extLst xmlns:a="http://schemas.openxmlformats.org/drawingml/2006/main">
              <a:ext uri="{FF2B5EF4-FFF2-40B4-BE49-F238E27FC236}">
                <a16:creationId xmlns:a16="http://schemas.microsoft.com/office/drawing/2014/main" id="{A2638C5D-A306-40C7-8662-15ACF226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8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Text 20">
            <a:extLst xmlns:a="http://schemas.openxmlformats.org/drawingml/2006/main">
              <a:ext uri="{FF2B5EF4-FFF2-40B4-BE49-F238E27FC236}">
                <a16:creationId xmlns:a16="http://schemas.microsoft.com/office/drawing/2014/main" id="{EFCFD6F9-D907-499F-985A-B42D5F90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220" y="5591497"/>
            <a:ext cx="144448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평균 성능 향상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locomotion,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manipulation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task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다른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방식보다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성능 향상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Shape 21">
            <a:extLst xmlns:a="http://schemas.openxmlformats.org/drawingml/2006/main">
              <a:ext uri="{FF2B5EF4-FFF2-40B4-BE49-F238E27FC236}">
                <a16:creationId xmlns:a16="http://schemas.microsoft.com/office/drawing/2014/main" id="{D11D2A8C-D745-4BA2-8590-4B9D8DF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" name="Text 22">
            <a:extLst xmlns:a="http://schemas.openxmlformats.org/drawingml/2006/main">
              <a:ext uri="{FF2B5EF4-FFF2-40B4-BE49-F238E27FC236}">
                <a16:creationId xmlns:a16="http://schemas.microsoft.com/office/drawing/2014/main" id="{49856516-FE00-4893-ABBA-1372AAC5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240" y="5591497"/>
            <a:ext cx="176724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판정 일관성 상승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명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의 </a:t>
            </a:r>
            <a:r>
              <a:rPr sz="670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인간 대상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실험에서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허용하자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              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good/bad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판정 일관성이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4~6%p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높아짐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23">
            <a:extLst xmlns:a="http://schemas.openxmlformats.org/drawingml/2006/main">
              <a:ext uri="{FF2B5EF4-FFF2-40B4-BE49-F238E27FC236}">
                <a16:creationId xmlns:a16="http://schemas.microsoft.com/office/drawing/2014/main" id="{361E7D55-F73B-49EF-8341-B09C58B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40" y="5555137"/>
            <a:ext cx="1767240" cy="80388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</a:pPr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Text 24">
            <a:extLst xmlns:a="http://schemas.openxmlformats.org/drawingml/2006/main">
              <a:ext uri="{FF2B5EF4-FFF2-40B4-BE49-F238E27FC236}">
                <a16:creationId xmlns:a16="http://schemas.microsoft.com/office/drawing/2014/main" id="{18AD0367-77DC-410C-B882-B7780F16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80" y="5591497"/>
            <a:ext cx="1584360" cy="7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360" tIns="18360" rIns="18360" bIns="1836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skip </a:t>
            </a:r>
            <a:r>
              <a:rPr sz="1000" b="1" u="none">
                <a:solidFill>
                  <a:srgbClr val="16233A"/>
                </a:solidFill>
                <a:latin typeface="Malgun Gothic"/>
                <a:ea typeface="Malgun Gothic"/>
                <a:cs typeface="Malgun Gothic"/>
              </a:rPr>
              <a:t>기준은 사람마다 다름</a:t>
            </a:r>
            <a:endParaRPr sz="1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skip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을 누르는 구간이 하위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17%~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상위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94%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까지 달라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670" b="0" u="none">
                <a:solidFill>
                  <a:srgbClr val="4C5768"/>
                </a:solidFill>
                <a:latin typeface="Malgun Gothic"/>
                <a:ea typeface="Malgun Gothic"/>
                <a:cs typeface="Malgun Gothic"/>
              </a:rPr>
              <a:t>사람별 보정이 필요함</a:t>
            </a:r>
            <a:endParaRPr sz="67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9">
            <a:extLst xmlns:a="http://schemas.openxmlformats.org/drawingml/2006/main">
              <a:ext uri="{FF2B5EF4-FFF2-40B4-BE49-F238E27FC236}">
                <a16:creationId xmlns:a16="http://schemas.microsoft.com/office/drawing/2014/main" id="{63CFDDB7-DD41-49A7-BD53-B976562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11091600" cy="36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EE2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7071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2026-09-18T07:34:37.0690000Z</dcterms:created>
  <dcterms:modified xsi:type="dcterms:W3CDTF">2026-09-18T07:34:37.0690000Z</dcterms:modified>
</coreProperties>
</file>