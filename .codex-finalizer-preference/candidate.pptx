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5fe4e57cc54db9" /><Relationship Type="http://schemas.openxmlformats.org/officeDocument/2006/relationships/extended-properties" Target="/docProps/app.xml" Id="R34d01c13d638464f" /><Relationship Type="http://schemas.openxmlformats.org/officeDocument/2006/relationships/officeDocument" Target="/ppt/presentation.xml" Id="R467e7753de084d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bebd45c86b41b4"/>
  </p:sldMasterIdLst>
  <p:notesMasterIdLst>
    <p:notesMasterId xmlns:r="http://schemas.openxmlformats.org/officeDocument/2006/relationships" r:id="Rd18cdb774eaf4bc0"/>
  </p:notesMasterIdLst>
  <p:sldIdLst>
    <p:sldId xmlns:r="http://schemas.openxmlformats.org/officeDocument/2006/relationships" id="256" r:id="Rece99af685bb4ce2"/>
    <p:sldId xmlns:r="http://schemas.openxmlformats.org/officeDocument/2006/relationships" id="257" r:id="R27c470207c984517"/>
    <p:sldId xmlns:r="http://schemas.openxmlformats.org/officeDocument/2006/relationships" id="258" r:id="Rdece9e1c80b741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cf972879594a43" /><Relationship Type="http://schemas.openxmlformats.org/officeDocument/2006/relationships/slideMaster" Target="/ppt/slideMasters/slideMaster1.xml" Id="R61bebd45c86b41b4" /><Relationship Type="http://schemas.openxmlformats.org/officeDocument/2006/relationships/notesMaster" Target="/ppt/notesMasters/notesMaster1.xml" Id="Rd18cdb774eaf4bc0" /><Relationship Type="http://schemas.openxmlformats.org/officeDocument/2006/relationships/presProps" Target="/ppt/presProps.xml" Id="R0237849a19414435" /><Relationship Type="http://schemas.openxmlformats.org/officeDocument/2006/relationships/viewProps" Target="/ppt/viewProps.xml" Id="R4fe2f63b0c6a4a25" /><Relationship Type="http://schemas.openxmlformats.org/officeDocument/2006/relationships/tableStyles" Target="/ppt/tableStyles.xml" Id="R98dc6dd2d18744aa" /><Relationship Type="http://schemas.openxmlformats.org/officeDocument/2006/relationships/slide" Target="/ppt/slides/slide1.xml" Id="Rece99af685bb4ce2" /><Relationship Type="http://schemas.openxmlformats.org/officeDocument/2006/relationships/slide" Target="/ppt/slides/slide2.xml" Id="R27c470207c984517" /><Relationship Type="http://schemas.openxmlformats.org/officeDocument/2006/relationships/slide" Target="/ppt/slides/slide3.xml" Id="Rdece9e1c80b741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60ec9c39a847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3717b9247e4b16" /><Relationship Type="http://schemas.openxmlformats.org/officeDocument/2006/relationships/notesMaster" Target="/ppt/notesMasters/notesMaster1.xml" Id="Rce393775f9064e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3081b415924fe8" /><Relationship Type="http://schemas.openxmlformats.org/officeDocument/2006/relationships/notesMaster" Target="/ppt/notesMasters/notesMaster1.xml" Id="R6e65561e7acc46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c3637e4ab64c7e" /><Relationship Type="http://schemas.openxmlformats.org/officeDocument/2006/relationships/notesMaster" Target="/ppt/notesMasters/notesMaster1.xml" Id="Rf1a6fbd7c7aa4f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sources:</a:t>
            </a:r>
          </a:p>
          <a:p xmlns:a="http://schemas.openxmlformats.org/drawingml/2006/main">
            <a:r>
              <a:t>- C:/Users/Gooooood/Documents/MLCS/Lab_Project/04_VMC/회사미팅/최종보고.pdf, pp. 39 and 56: first-year PI model and personalized controller results.</a:t>
            </a:r>
          </a:p>
          <a:p xmlns:a="http://schemas.openxmlformats.org/drawingml/2006/main">
            <a:r>
              <a:t>- C:/Users/Gooooood/Documents/MLCS/Lab_Project/06_TPI/월례회의/20260612_월례회의.pdf, pp. 39, 43 and 46: hierarchical Bayesian learned prior and real-driver prior/posterior AUROC.</a:t>
            </a:r>
          </a:p>
          <a:p xmlns:a="http://schemas.openxmlformats.org/drawingml/2006/main">
            <a:r>
              <a:t>- C:/Users/Gooooood/Documents/MLCS/Lab_Project/06_TPI/월례회의/20260715_월례회의.pdf, pp. 18 and 26: feature selection and scalable inference.</a:t>
            </a:r>
          </a:p>
          <a:p xmlns:a="http://schemas.openxmlformats.org/drawingml/2006/main">
            <a:r>
              <a:t>- C:/Users/Gooooood/Documents/MLCS/Lab_Project/06_TPI/월례회의/20260819_월례회의.pdf, pp. 14, 17 and 26: state reconstruction, end-to-end framework and personalized controller experiment.</a:t>
            </a:r>
          </a:p>
          <a:p xmlns:a="http://schemas.openxmlformats.org/drawingml/2006/main">
            <a:r>
              <a:t>Metrics shown: real-driver AUROC 0.7813 prior and 0.8381 posterior; synthetic experiment AUROC 0.910 with 100 train users, 10 test users and 10 feedback items per user; Bi-LSTM reconstruction correlation 0.9927 and downstream AUROC change +0.02.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f5ca13d8164aaf" /></Relationships>
</file>

<file path=ppt/slideLayouts/slideLayout1.xml><?xml version="1.0" encoding="utf-8"?>
<p:sldLayout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3749c750b9496f" /><Relationship Type="http://schemas.openxmlformats.org/officeDocument/2006/relationships/slideLayout" Target="/ppt/slideLayouts/slideLayout1.xml" Id="Re5848eb76cad437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61AA8C2-B6C1-451D-B9CF-143E0BC0B1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6CC068B-8D1E-4668-A5E1-961C7EFE9D29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848eb76cad437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64d48592e4706" /><Relationship Type="http://schemas.openxmlformats.org/officeDocument/2006/relationships/image" Target="/ppt/media/image.png" Id="Rf8d9f15d857e40bf" /><Relationship Type="http://schemas.openxmlformats.org/officeDocument/2006/relationships/image" Target="/ppt/media/image2.png" Id="Raab7b673a0cb457a" /><Relationship Type="http://schemas.openxmlformats.org/officeDocument/2006/relationships/notesSlide" Target="/ppt/notesSlides/notesSlide1.xml" Id="Rab1a25f38bd04a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8d24733804e77" /><Relationship Type="http://schemas.openxmlformats.org/officeDocument/2006/relationships/notesSlide" Target="/ppt/notesSlides/notesSlide2.xml" Id="R69175662f4a84c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6842005e3480d" /><Relationship Type="http://schemas.openxmlformats.org/officeDocument/2006/relationships/image" Target="/ppt/media/image3.png" Id="R490bbb2b54e949f4" /><Relationship Type="http://schemas.openxmlformats.org/officeDocument/2006/relationships/image" Target="/ppt/media/image4.png" Id="R7d38117dae0a4f22" /><Relationship Type="http://schemas.openxmlformats.org/officeDocument/2006/relationships/notesSlide" Target="/ppt/notesSlides/notesSlide3.xml" Id="R247cca35dc4f49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Rounded Rectangle 64">
            <a:extLst xmlns:a="http://schemas.openxmlformats.org/drawingml/2006/main">
              <a:ext uri="{FF2B5EF4-FFF2-40B4-BE49-F238E27FC236}">
                <a16:creationId xmlns:a16="http://schemas.microsoft.com/office/drawing/2014/main" id="{1AC24C74-F36D-460C-B460-A6548747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939" y="1994665"/>
            <a:ext cx="5468112" cy="234086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CD6C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33" name="Rounded Rectangle 64">
            <a:extLst xmlns:a="http://schemas.openxmlformats.org/drawingml/2006/main">
              <a:ext uri="{FF2B5EF4-FFF2-40B4-BE49-F238E27FC236}">
                <a16:creationId xmlns:a16="http://schemas.microsoft.com/office/drawing/2014/main" id="{C0ACE256-385B-98D1-3CA2-503CEA44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266" y="2481521"/>
            <a:ext cx="3809148" cy="181707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CD6C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68C63B7-A519-45D8-9A50-7B37034A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19" y="1656841"/>
            <a:ext cx="2331720" cy="288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16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왜 PBRL이 필요한가?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70A28A9-965D-49FE-8951-881877F0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9651" y="1794001"/>
            <a:ext cx="2578608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6C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264275C-60DF-4859-ACFB-65BA6D5F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939" y="1656841"/>
            <a:ext cx="3017520" cy="288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16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Simple feedback의 두 형태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0E6B612-1F19-451A-B5C3-870C4E82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731" y="1794001"/>
            <a:ext cx="219456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6C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01984FE-F3E4-40CE-A4FA-CB941FD2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19" y="1994665"/>
            <a:ext cx="5285232" cy="86477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CD6C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70A66F2-4766-47C0-B59F-ADDED80C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22" y="2067817"/>
            <a:ext cx="1677751" cy="259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CD6F24"/>
                </a:solidFill>
                <a:latin typeface="Malgun Gothic"/>
                <a:ea typeface="Malgun Gothic"/>
                <a:cs typeface="Malgun Gothic"/>
              </a:rPr>
              <a:t>기존 접근의 한계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B5AFEB7E-C412-446A-B308-6EB24373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19" y="4421109"/>
            <a:ext cx="2377440" cy="288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16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PBRL의 학습 과정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E3F9C25B-F2C0-4816-B844-F9C29DF6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211" y="4558269"/>
            <a:ext cx="304495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6C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B56CA706-8820-42E1-8E01-D6A3522E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19" y="4832589"/>
            <a:ext cx="1115568" cy="94183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1430">
            <a:solidFill>
              <a:srgbClr val="D3D9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42" name="Oval 41">
            <a:extLst xmlns:a="http://schemas.openxmlformats.org/drawingml/2006/main">
              <a:ext uri="{FF2B5EF4-FFF2-40B4-BE49-F238E27FC236}">
                <a16:creationId xmlns:a16="http://schemas.microsoft.com/office/drawing/2014/main" id="{37E7E32F-74D7-4369-A62A-320DCBFD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99" y="4896597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80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2D32E09F-6EDA-449E-937D-CF4B56A6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99" y="4943501"/>
            <a:ext cx="237744" cy="145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000" b="1">
                <a:solidFill>
                  <a:srgbClr val="E4803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87385601-E610-462B-806E-95BF0B13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71" y="5160924"/>
            <a:ext cx="969264" cy="223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선택지</a:t>
            </a:r>
            <a:r>
              <a: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제시</a:t>
            </a:r>
            <a:endParaRPr sz="1050" b="1">
              <a:solidFill>
                <a:srgbClr val="1F315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D1D6DCBA-553C-42D1-88E0-1F2CD9CD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83" y="5382968"/>
            <a:ext cx="1005840" cy="270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현재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policy로</a:t>
            </a:r>
            <a:endParaRPr sz="700" b="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여러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선택지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를 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만든다</a:t>
            </a:r>
            <a:endParaRPr sz="700" b="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1781CF-B7A0-449B-A763-94F5CD98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845" y="5152190"/>
            <a:ext cx="100584" cy="204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400" b="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8D13AC89-1675-4BC7-BA4F-A21B5568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2153" y="4832589"/>
            <a:ext cx="1115568" cy="94183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1430">
            <a:solidFill>
              <a:srgbClr val="D3D9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48" name="Oval 47">
            <a:extLst xmlns:a="http://schemas.openxmlformats.org/drawingml/2006/main">
              <a:ext uri="{FF2B5EF4-FFF2-40B4-BE49-F238E27FC236}">
                <a16:creationId xmlns:a16="http://schemas.microsoft.com/office/drawing/2014/main" id="{00FF2AD3-F94F-42E0-8E2E-34A93516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33" y="4896597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80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AB7A59B6-73E4-4C72-927A-C491C073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33" y="4943501"/>
            <a:ext cx="237744" cy="145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000" b="1">
                <a:solidFill>
                  <a:srgbClr val="E4803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E2476202-E897-4381-9F1A-DC2F8BEF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305" y="5164002"/>
            <a:ext cx="969264" cy="216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사람 피드백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CDE56F4F-039D-4653-80A2-8D325949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017" y="5382968"/>
            <a:ext cx="1005840" cy="270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사람이</a:t>
            </a:r>
            <a:r>
              <a:rPr sz="7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선택지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를 </a:t>
            </a:r>
            <a:endParaRPr sz="700" b="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평가한다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ED3B51F1-C002-4555-98AF-2FC96584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251" y="5152190"/>
            <a:ext cx="100584" cy="204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400" b="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53" name="Rounded Rectangle 52">
            <a:extLst xmlns:a="http://schemas.openxmlformats.org/drawingml/2006/main">
              <a:ext uri="{FF2B5EF4-FFF2-40B4-BE49-F238E27FC236}">
                <a16:creationId xmlns:a16="http://schemas.microsoft.com/office/drawing/2014/main" id="{8430C9A9-8A25-48E7-9F2D-2549D995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087" y="4832589"/>
            <a:ext cx="1115568" cy="94183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1430">
            <a:solidFill>
              <a:srgbClr val="D3D9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54" name="Oval 53">
            <a:extLst xmlns:a="http://schemas.openxmlformats.org/drawingml/2006/main">
              <a:ext uri="{FF2B5EF4-FFF2-40B4-BE49-F238E27FC236}">
                <a16:creationId xmlns:a16="http://schemas.microsoft.com/office/drawing/2014/main" id="{E9306302-3A62-4774-9823-1D6517AE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567" y="4896597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6986C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A61FD113-B59E-49EC-8DD7-99EDDA68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567" y="4949325"/>
            <a:ext cx="237744" cy="145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000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925A2DB3-6696-4112-84BB-8042C5B0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1239" y="5164002"/>
            <a:ext cx="969264" cy="216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보상모델 학습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0F91D79D-01FD-42FB-A0A2-3543E630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951" y="5382968"/>
            <a:ext cx="1005840" cy="270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판단 기록으로</a:t>
            </a:r>
          </a:p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보상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모델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을 배운다.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A052A245-B9C6-49CE-8083-B0944F2F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135" y="5152190"/>
            <a:ext cx="100584" cy="204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400" b="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59" name="Rounded Rectangle 58">
            <a:extLst xmlns:a="http://schemas.openxmlformats.org/drawingml/2006/main">
              <a:ext uri="{FF2B5EF4-FFF2-40B4-BE49-F238E27FC236}">
                <a16:creationId xmlns:a16="http://schemas.microsoft.com/office/drawing/2014/main" id="{CD73DEDD-921C-4D31-9086-65A4497D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443" y="4832589"/>
            <a:ext cx="1115568" cy="94183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1430">
            <a:solidFill>
              <a:srgbClr val="D3D9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60" name="Oval 59">
            <a:extLst xmlns:a="http://schemas.openxmlformats.org/drawingml/2006/main">
              <a:ext uri="{FF2B5EF4-FFF2-40B4-BE49-F238E27FC236}">
                <a16:creationId xmlns:a16="http://schemas.microsoft.com/office/drawing/2014/main" id="{CCBC5CA3-3680-4D82-AC18-29BEA52B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923" y="4896597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6986C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375DE769-47DF-4AFE-937D-BEFC3711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923" y="4949325"/>
            <a:ext cx="237744" cy="145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000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5E193C7F-181E-44C4-A58D-9563E0C5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7595" y="5160924"/>
            <a:ext cx="969264" cy="223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policy </a:t>
            </a:r>
            <a:r>
              <a: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학습</a:t>
            </a:r>
            <a:endParaRPr sz="1050" b="1">
              <a:solidFill>
                <a:srgbClr val="1F315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069131A7-F14F-4F0E-AC3D-50EE53C9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307" y="5382968"/>
            <a:ext cx="1005840" cy="270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학습된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보상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으로 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policy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를 학습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한다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66" name="Oval 65">
            <a:extLst xmlns:a="http://schemas.openxmlformats.org/drawingml/2006/main">
              <a:ext uri="{FF2B5EF4-FFF2-40B4-BE49-F238E27FC236}">
                <a16:creationId xmlns:a16="http://schemas.microsoft.com/office/drawing/2014/main" id="{9DF4FB4C-50D0-48B7-ACB9-038FF210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954" y="2046153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03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5EA51344-5B73-4AD7-9A85-6AF47D0A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954" y="2129399"/>
            <a:ext cx="329184" cy="16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B3918EE9-57E7-4B58-A4F3-CB190BD3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427" y="2052402"/>
            <a:ext cx="2468880" cy="259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pairwise feedback</a:t>
            </a:r>
          </a:p>
        </p:txBody>
      </p:sp>
      <p:sp>
        <p:nvSpPr>
          <p:cNvPr id="69" name="TextBox 68">
            <a:extLst xmlns:a="http://schemas.openxmlformats.org/drawingml/2006/main">
              <a:ext uri="{FF2B5EF4-FFF2-40B4-BE49-F238E27FC236}">
                <a16:creationId xmlns:a16="http://schemas.microsoft.com/office/drawing/2014/main" id="{5D3B1BAC-6A75-48FF-8C4E-353EA50E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427" y="2305561"/>
            <a:ext cx="4663440" cy="186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두 </a:t>
            </a:r>
            <a:r>
              <a:rPr sz="9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동작을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비교해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더 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나은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쪽을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고르는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방식</a:t>
            </a:r>
            <a:endParaRPr sz="900" b="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2" name="Rounded Rectangle 71">
            <a:extLst xmlns:a="http://schemas.openxmlformats.org/drawingml/2006/main">
              <a:ext uri="{FF2B5EF4-FFF2-40B4-BE49-F238E27FC236}">
                <a16:creationId xmlns:a16="http://schemas.microsoft.com/office/drawing/2014/main" id="{D927A7B7-F518-4C28-AF3F-9D493B64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939" y="4421109"/>
            <a:ext cx="5468112" cy="142646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2E1C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73" name="Oval 72">
            <a:extLst xmlns:a="http://schemas.openxmlformats.org/drawingml/2006/main">
              <a:ext uri="{FF2B5EF4-FFF2-40B4-BE49-F238E27FC236}">
                <a16:creationId xmlns:a16="http://schemas.microsoft.com/office/drawing/2014/main" id="{E10419BB-8530-4BB4-A195-7ED4BA2E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954" y="4472597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AC6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4C7EE92E-8E1C-4197-97F0-A5283C6D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954" y="4555843"/>
            <a:ext cx="329184" cy="16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0C4F77D2-30FF-40B2-B3FE-7C76C4FF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427" y="4478846"/>
            <a:ext cx="3017520" cy="259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Good/Bad feedback 예시</a:t>
            </a:r>
          </a:p>
        </p:txBody>
      </p:sp>
      <p:sp>
        <p:nvSpPr>
          <p:cNvPr id="76" name="TextBox 75">
            <a:extLst xmlns:a="http://schemas.openxmlformats.org/drawingml/2006/main">
              <a:ext uri="{FF2B5EF4-FFF2-40B4-BE49-F238E27FC236}">
                <a16:creationId xmlns:a16="http://schemas.microsoft.com/office/drawing/2014/main" id="{E9A0ED3F-3844-47BC-A2B6-89E03AC6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427" y="4732005"/>
            <a:ext cx="4663440" cy="186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9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하나의 동작의 좋고 나쁨을 고르는 방식 </a:t>
            </a:r>
            <a:r>
              <a:rPr sz="9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9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두개의 동작을 동시에 경험하기 어려울 때</a:t>
            </a:r>
            <a:r>
              <a:rPr sz="9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)</a:t>
            </a:r>
            <a:endParaRPr sz="900" b="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7" name="Rounded Rectangle 76">
            <a:extLst xmlns:a="http://schemas.openxmlformats.org/drawingml/2006/main">
              <a:ext uri="{FF2B5EF4-FFF2-40B4-BE49-F238E27FC236}">
                <a16:creationId xmlns:a16="http://schemas.microsoft.com/office/drawing/2014/main" id="{75341FC6-B945-448C-861C-2C82CC10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529" y="4933173"/>
            <a:ext cx="3808800" cy="8686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2E1C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>
              <a:ln w="3175">
                <a:solidFill>
                  <a:schemeClr val="tx1"/>
                </a:solidFill>
              </a:ln>
            </a:endParaRPr>
          </a:p>
        </p:txBody>
      </p:sp>
      <p:pic>
        <p:nvPicPr>
          <p:cNvPr id="179" name="Picture 7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d9f15d857e40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85334" y="4969749"/>
            <a:ext cx="2151321" cy="795527"/>
          </a:xfrm>
          <a:prstGeom xmlns:a="http://schemas.openxmlformats.org/drawingml/2006/main" prst="rect">
            <a:avLst/>
          </a:prstGeom>
        </p:spPr>
      </p:pic>
      <p:sp>
        <p:nvSpPr>
          <p:cNvPr id="92" name="Text 0">
            <a:extLst xmlns:a="http://schemas.openxmlformats.org/drawingml/2006/main">
              <a:ext uri="{FF2B5EF4-FFF2-40B4-BE49-F238E27FC236}">
                <a16:creationId xmlns:a16="http://schemas.microsoft.com/office/drawing/2014/main" id="{ADF4E439-8AC4-FD59-7CF1-804FDC17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00"/>
            <a:ext cx="73144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선호</a:t>
            </a: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기반</a:t>
            </a: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 학습 — </a:t>
            </a: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개요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Text 1">
            <a:extLst xmlns:a="http://schemas.openxmlformats.org/drawingml/2006/main">
              <a:ext uri="{FF2B5EF4-FFF2-40B4-BE49-F238E27FC236}">
                <a16:creationId xmlns:a16="http://schemas.microsoft.com/office/drawing/2014/main" id="{41AF5563-7C0A-2A28-8396-E51C1891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520" cy="54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</a:tabLst>
            </a:pPr>
            <a:r>
              <a:rPr sz="28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선호 기반 학습 </a:t>
            </a:r>
            <a:r>
              <a:rPr sz="28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(Preference based Reinforcement Learning, PBRL)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Text 2">
            <a:extLst xmlns:a="http://schemas.openxmlformats.org/drawingml/2006/main">
              <a:ext uri="{FF2B5EF4-FFF2-40B4-BE49-F238E27FC236}">
                <a16:creationId xmlns:a16="http://schemas.microsoft.com/office/drawing/2014/main" id="{B645F334-0423-B42C-8A6E-7FDD75FF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113"/>
            <a:ext cx="11063520" cy="410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</a:tabLst>
            </a:pP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최적화를 위한 </a:t>
            </a: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reward</a:t>
            </a: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를 직접 설계하기 어려울 때</a:t>
            </a: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사람의 피드백으로 </a:t>
            </a: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reward</a:t>
            </a: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를 학습한다</a:t>
            </a: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자연스러운 로봇 동작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편안한 승차감처럼 목표를 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reward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objective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의 형태로 수식화가 어려운 경우가 많다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. PBRL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은 사람의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피드백으로 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reward model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을 학습하고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그 기준으로 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policy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를 학습한다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Shape 25">
            <a:extLst xmlns:a="http://schemas.openxmlformats.org/drawingml/2006/main">
              <a:ext uri="{FF2B5EF4-FFF2-40B4-BE49-F238E27FC236}">
                <a16:creationId xmlns:a16="http://schemas.microsoft.com/office/drawing/2014/main" id="{F5542930-BF9F-9349-CC88-6BD662A2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240"/>
            <a:ext cx="11090880" cy="31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6"/>
          </a:solidFill>
          <a:ln xmlns:a="http://schemas.openxmlformats.org/drawingml/2006/main" w="12700">
            <a:solidFill>
              <a:srgbClr val="EEF1F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2" name="Text 26">
            <a:extLst xmlns:a="http://schemas.openxmlformats.org/drawingml/2006/main">
              <a:ext uri="{FF2B5EF4-FFF2-40B4-BE49-F238E27FC236}">
                <a16:creationId xmlns:a16="http://schemas.microsoft.com/office/drawing/2014/main" id="{2FCD0537-8041-7867-C6AD-CD4EF298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5240"/>
            <a:ext cx="10880640" cy="29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정리 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:  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PBRL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은 원하는 행동을 직접 정의하거나 시연하기 어려운 문제에서 사람의 평가로 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reward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를 학습하며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특히 고객 피드백의 적용에서는 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Good/Bad feedback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이 실용적일 수 있다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Shape 29">
            <a:extLst xmlns:a="http://schemas.openxmlformats.org/drawingml/2006/main">
              <a:ext uri="{FF2B5EF4-FFF2-40B4-BE49-F238E27FC236}">
                <a16:creationId xmlns:a16="http://schemas.microsoft.com/office/drawing/2014/main" id="{BB4FCA1C-740C-1F37-D484-AA5D347C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1109160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8" name="TextBox 127">
            <a:extLst xmlns:a="http://schemas.openxmlformats.org/drawingml/2006/main">
              <a:ext uri="{FF2B5EF4-FFF2-40B4-BE49-F238E27FC236}">
                <a16:creationId xmlns:a16="http://schemas.microsoft.com/office/drawing/2014/main" id="{D022FDEC-516E-C3D9-4309-F578ADA1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32" y="2270942"/>
            <a:ext cx="4990001" cy="491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sz="1000"/>
              <a:t>Imitation</a:t>
            </a:r>
            <a:r>
              <a:rPr sz="1000"/>
              <a:t> learning, </a:t>
            </a:r>
            <a:r>
              <a:rPr sz="1000"/>
              <a:t>IRL은</a:t>
            </a:r>
            <a:r>
              <a:rPr sz="1000"/>
              <a:t> </a:t>
            </a:r>
            <a:r>
              <a:rPr sz="1000"/>
              <a:t>비용이 큰 전문가의 </a:t>
            </a:r>
            <a:r>
              <a:rPr sz="1000"/>
              <a:t>demo에</a:t>
            </a:r>
            <a:r>
              <a:rPr sz="1000"/>
              <a:t> 의존</a:t>
            </a:r>
            <a:r>
              <a:rPr sz="1000"/>
              <a:t>한다</a:t>
            </a:r>
            <a:r>
              <a:rPr sz="1000"/>
              <a:t>.</a:t>
            </a:r>
          </a:p>
          <a:p xmlns:a="http://schemas.openxmlformats.org/drawingml/2006/main"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sz="1000"/>
              <a:t>자연어</a:t>
            </a:r>
            <a:r>
              <a:rPr sz="1000"/>
              <a:t> 기반 피드백</a:t>
            </a:r>
            <a:r>
              <a:rPr sz="1000"/>
              <a:t>도 유망하지만</a:t>
            </a:r>
            <a:r>
              <a:rPr sz="1000"/>
              <a:t> </a:t>
            </a:r>
            <a:r>
              <a:rPr sz="1000"/>
              <a:t>인간은  본인의 취향을 잘 설명하지 못한다</a:t>
            </a:r>
            <a:r>
              <a:rPr sz="1000"/>
              <a:t>. </a:t>
            </a:r>
            <a:endParaRPr sz="1000" b="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87" name="Picture 7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7b673a0cb45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66900" y="2518734"/>
            <a:ext cx="3388188" cy="17600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ED8E803-8524-5917-88E0-022F454B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54" y="2974992"/>
            <a:ext cx="5285232" cy="1309471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2E1C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4F07D94-A0D0-5EB6-B2DB-69DA2AD4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57" y="3048144"/>
            <a:ext cx="1899235" cy="259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rPr>
              <a:t>PBRL</a:t>
            </a:r>
            <a:r>
              <a:rPr sz="1400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rPr>
              <a:t>이 해결하는 지점</a:t>
            </a:r>
            <a:endParaRPr sz="1400" b="1">
              <a:solidFill>
                <a:srgbClr val="52AC6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1B028F5-ECD3-BB22-89D7-9B1817FE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7" y="3251269"/>
            <a:ext cx="4990001" cy="948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선택지를 고르도록 유도하여 본인도 몰랐던 암묵적인 선호를 이끌어낼 수 있음</a:t>
            </a:r>
            <a:endParaRPr sz="100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또한 피드백 실수를 하여도 노이즈가 자연스럽게 완화될 수 있기에 피드백의 질에 의존도가 비교적 낮다</a:t>
            </a:r>
            <a:endParaRPr sz="100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628650" lvl="1" indent="-171450">
              <a:lnSpc>
                <a:spcPct val="150000"/>
              </a:lnSpc>
              <a:buFont typeface="Wingdings"/>
              <a:buChar char="Ø"/>
            </a:pP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일반 고객들의 피드백을 효율적으로 활용할 수 있는 가능성</a:t>
            </a:r>
            <a:endParaRPr sz="100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402562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White Background">
            <a:extLst xmlns:a="http://schemas.openxmlformats.org/drawingml/2006/main">
              <a:ext uri="{FF2B5EF4-FFF2-40B4-BE49-F238E27FC236}">
                <a16:creationId xmlns:a16="http://schemas.microsoft.com/office/drawing/2014/main" id="{5C98DA31-9365-4818-8780-F407AC3E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7A704-5263-42FE-ADD4-3A520A6A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선호 기반 학습 - 2차년도 연구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D8ABA-5D7B-416D-BB0D-300BBA56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계층적 선호 학습과 개인화 제어 루프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B6EA6-7F4B-4B5C-B3A9-99211D10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58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다수 사용자의 선호 분포로 learned prior를 구성하고, 새 사용자 posterior와 PI reward를 이용해 제어 파라미터를 반복적으로 갱신한다.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67F9B-F8E5-4D6C-9B94-12DB2212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1049000" cy="3895725"/>
          </a:xfrm>
          <a:prstGeom xmlns:a="http://schemas.openxmlformats.org/drawingml/2006/main" prst="roundRect">
            <a:avLst>
              <a:gd name="adj" fmla="val 2445"/>
            </a:avLst>
          </a:prstGeom>
          <a:solidFill xmlns:a="http://schemas.openxmlformats.org/drawingml/2006/main">
            <a:srgbClr val="FCFDFE"/>
          </a:solidFill>
          <a:ln xmlns:a="http://schemas.openxmlformats.org/drawingml/2006/main" w="9525">
            <a:solidFill>
              <a:srgbClr val="D3D9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BE9F4-84D7-4E57-BF61-EC8D82B0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28775"/>
            <a:ext cx="2428875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7620">
            <a:solidFill>
              <a:srgbClr val="ECD6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4114C-A05F-446E-8108-04CE4787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190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A  Multi-user preference learning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7B0B0-CF51-4E30-B297-8787D31F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43075"/>
            <a:ext cx="285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803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DDD31-AE6A-432C-8F9C-9B2AF07C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6573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feedback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37974-4796-4872-8BD3-1B3E7330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43075"/>
            <a:ext cx="285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986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DCAA7-0D2C-43B2-A6EF-07669B08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6573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control 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B41724-6A32-45CB-85C7-6B5D4FB3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743075"/>
            <a:ext cx="285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2AC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FCAB5-6647-4209-8A7D-4AA8D468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16573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DF8A50-FC3A-4064-93F4-297D2530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1952625" cy="116205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11430">
            <a:solidFill>
              <a:srgbClr val="ECD6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073B1D-7A5E-4BBC-BEB4-1C7BC8F7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8597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Multi-user 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372455-6E73-48A0-A172-9B665643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400300"/>
            <a:ext cx="342900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803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24EA5C-26E5-4C53-8CAF-5CEF68B7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4288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User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D7BD44-399C-472A-B415-73EFCA40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43815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CD6C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7132A-FF4F-463F-87BE-30741171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527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D_1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E48F4B-00C5-4EB5-A2CF-5BA20455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00300"/>
            <a:ext cx="342900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803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54DA9F-723E-453C-81AB-9D28E62E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288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User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050B06-9D8F-419A-A2F6-C55414CA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14625"/>
            <a:ext cx="43815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CD6C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E76FF2-3C25-441D-8013-28909EB9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527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D_2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32A60F-630B-4123-9849-B518250E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400300"/>
            <a:ext cx="342900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803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AC9924-3571-4A6C-9CB2-5B8AA778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4288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User 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D5DBBE-CDE8-4E81-9C6D-CA1BF4B2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14625"/>
            <a:ext cx="43815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CD6C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58B664-446A-486D-AD27-F2D0A0D3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527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D_U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C25854-8263-4BA3-99E0-7F124984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5336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17B8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...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75F6B8-2891-445D-BCF4-3B2196DE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1676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D_u = {(tau_ui, y_ui)}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BB9129-1A67-4B43-84AB-F15098E6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76450"/>
            <a:ext cx="1809750" cy="10287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1430">
            <a:solidFill>
              <a:srgbClr val="D3D9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F00EB6-4501-49E6-9D38-8A0084FD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52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Trajectory encoder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601FF2-6A1B-438F-8DD7-CACF393B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47925"/>
            <a:ext cx="158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z_ui = f(tau_ui)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selected ride features</a:t>
            </a:r>
          </a:p>
          <a:p xmlns:a="http://schemas.openxmlformats.org/drawingml/2006/main">
            <a:pPr algn="ctr">
              <a:def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missing-state reconstruction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D13E94-60C5-420E-82C3-0ABD952A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24050"/>
            <a:ext cx="3429000" cy="1352550"/>
          </a:xfrm>
          <a:prstGeom xmlns:a="http://schemas.openxmlformats.org/drawingml/2006/main" prst="roundRect">
            <a:avLst>
              <a:gd name="adj" fmla="val 6338"/>
            </a:avLst>
          </a:prstGeom>
          <a:solidFill xmlns:a="http://schemas.openxmlformats.org/drawingml/2006/main">
            <a:srgbClr val="F5F7FC"/>
          </a:solidFill>
          <a:ln xmlns:a="http://schemas.openxmlformats.org/drawingml/2006/main" w="11430">
            <a:solidFill>
              <a:srgbClr val="CCD6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E3D0C2-A182-4479-B6C6-14C7B506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0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Hierarchical Bayesian PI model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7B812B-993C-4CF7-AFB0-B76DF0A0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05050"/>
            <a:ext cx="30480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CD6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36B0AA-E5AF-4230-B39A-E6DE6E3B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526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Population: theta_u ~ N(mu, Sigma)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EE17A7-D486-4FAC-8006-58A6181B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57475"/>
            <a:ext cx="30480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CD6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684A65-5145-4708-B702-ED4942D9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0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9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79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Likelihood: p(y_ui=1) = sigmoid(theta_u^T z_ui)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6E1263-FB51-40DE-ACF1-C14C6484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003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rPr>
              <a:t>Polya-Gamma Gibbs sampling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21EFDD-A165-498C-9A2C-F79C75A8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00375"/>
            <a:ext cx="1457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rPr>
              <a:t>population + user posterior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AFA852-9BB9-4C35-ABA6-0ACF1C61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9775"/>
            <a:ext cx="2038350" cy="116205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F3FBF6"/>
          </a:solidFill>
          <a:ln xmlns:a="http://schemas.openxmlformats.org/drawingml/2006/main" w="11430">
            <a:solidFill>
              <a:srgbClr val="C2E1C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C15864-22AD-42DE-92A2-A9FE9EE3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85975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New-user posterior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D97DEB-7538-4D71-AF2D-E64F69A2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8125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p(theta_* | D_old)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+ 10-20 feedback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p(theta_* | D_*, D_old)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B6BF93-7018-4BAF-8580-0718E108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14600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CD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193890-23E8-43DB-9F2F-D6A069E4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14600"/>
            <a:ext cx="304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C4AA6F-008C-4BAB-8700-03684C34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1460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2E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ED56027-8362-4443-A456-A32563FF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20955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3FBF6"/>
          </a:solidFill>
          <a:ln xmlns:a="http://schemas.openxmlformats.org/drawingml/2006/main" w="7620">
            <a:solidFill>
              <a:srgbClr val="C2E1C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0EF1DD-0505-4748-876F-61D98CE3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1857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rPr>
              <a:t>B  Personalized control loop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028146-E250-449E-86D6-8DD5F41D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190875"/>
            <a:ext cx="247650" cy="609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2E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B0905C7-8C02-4C5A-81CD-4F12C515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528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rPr>
              <a:t>posterior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319D0E-9621-48BB-ACFA-5B58BF00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67175"/>
            <a:ext cx="4476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986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A29E55-CD1B-4C49-84EC-7451865D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447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rPr>
              <a:t>r_t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A4294A-4471-4D9E-8600-9EF7339B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867150"/>
            <a:ext cx="1809750" cy="857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7FC"/>
          </a:solidFill>
          <a:ln xmlns:a="http://schemas.openxmlformats.org/drawingml/2006/main" w="11430">
            <a:solidFill>
              <a:srgbClr val="CCD6E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736A2D6-8186-4406-AB71-786D36A2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943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Personalized controller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DA2099-0849-470D-8291-68C186C3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238625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u_t = pi(x_t; c_u)</a:t>
            </a:r>
          </a:p>
          <a:p xmlns:a="http://schemas.openxmlformats.org/drawingml/2006/main">
            <a:pPr algn="ctr">
              <a:def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fixed gain / gain scheduling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79A275F-0653-4AC5-9619-6664BBFA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867150"/>
            <a:ext cx="2000250" cy="857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11430">
            <a:solidFill>
              <a:srgbClr val="ECD6C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B643E0-E511-4331-848E-91EC49EB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943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Vehicle / eRide dynamics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736C14C-B883-4B3C-BDD6-1FDFC37D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2386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x_(t+1) = F(x_t, u_t, w_t)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02E07F2-9605-4B1B-BBDE-C88DA79C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867150"/>
            <a:ext cx="1428750" cy="857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1430">
            <a:solidFill>
              <a:srgbClr val="D3D9E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DE2BC74-A9D4-44B3-8B53-DCBBB60C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9433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Trajectory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31A6299-95EC-43D3-B585-8A4D58AC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238625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tau = {x_t, u_t}</a:t>
            </a:r>
          </a:p>
          <a:p xmlns:a="http://schemas.openxmlformats.org/drawingml/2006/main">
            <a:pPr algn="ctr">
              <a:def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ride feature z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645D084-26B0-4938-9FE8-D7D4E120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67150"/>
            <a:ext cx="1504950" cy="857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BF6"/>
          </a:solidFill>
          <a:ln xmlns:a="http://schemas.openxmlformats.org/drawingml/2006/main" w="11430">
            <a:solidFill>
              <a:srgbClr val="C2E1C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5C939C9-0AB2-475F-8E61-1643A936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433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Personalized PI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926B525-E866-4AC6-B88F-FB4AD394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38625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R_hat_u(tau)</a:t>
            </a:r>
          </a:p>
          <a:p xmlns:a="http://schemas.openxmlformats.org/drawingml/2006/main">
            <a:pPr algn="ctr">
              <a:def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posterior mean + uncertainty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DAAC0A4-72E0-45F3-8486-6C091F9E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867150"/>
            <a:ext cx="1104900" cy="857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11430">
            <a:solidFill>
              <a:srgbClr val="ECD6C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6E3208D-F917-498B-B7EF-B9B9CD98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9433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Optimizer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5B35839-26FF-4BA0-B77E-AB9EE3C4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238625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Grid / CMA-ES</a:t>
            </a:r>
          </a:p>
          <a:p xmlns:a="http://schemas.openxmlformats.org/drawingml/2006/main">
            <a:pPr algn="ctr">
              <a:def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RL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5EC81ED-EB0A-418F-96CD-3FE41582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19575"/>
            <a:ext cx="247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98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FEC263B-453E-483E-9340-38B015F6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219575"/>
            <a:ext cx="4286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98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AEE21D3-6AEC-474E-B87F-4373913D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290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rPr>
              <a:t>u_t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3EB01DE-33C8-4495-A348-EEDB2F56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219575"/>
            <a:ext cx="4286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98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3BD138C-F30E-4AA2-816C-263021D7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290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rPr>
              <a:t>x_t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0D68AEC-4756-4FE9-867A-2D2EB8EA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219575"/>
            <a:ext cx="3524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FC7EBB1-1199-487C-970F-1D8D7B63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219575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2E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74E471D-0E75-475A-8F1F-AA457600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02907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rPr>
              <a:t>reward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58B3527-D615-4BB3-B158-C05AD1F5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829175"/>
            <a:ext cx="4257675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CCD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76A174D-3FF9-451E-B87C-4EB30E7E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7815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rPr>
              <a:t>state feedback x_t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E5CEE55-7C17-42C2-9D21-54FD4554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095875"/>
            <a:ext cx="97536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C2E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7A3C473-B048-422B-8B38-17A1DDD3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048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defRPr>
            </a:pPr>
            <a:r>
              <a:rPr sz="728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rPr>
              <a:t>controller parameter update c_u / k_p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EE2A81D-7F0A-4AEE-A106-6F0E6D2C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864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검증 결과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5E96786-ED88-4A52-80A1-A8665634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619750"/>
            <a:ext cx="99726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ECD6C1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FD2F888-AA84-4C6E-9B84-A0530500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72150"/>
            <a:ext cx="1109091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7C795F8-0157-487D-8941-5B34FFF9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실제 사용자  Prior 0.7813 / Posterior 0.8381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0E6DBAB-C7E6-484F-883A-91835DD5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848350"/>
            <a:ext cx="953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9E2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C8DDC7D-5D95-4BEE-B90D-BCCE11CC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674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Few-shot  100 train - 10 test - 10 feedback / AUROC 0.910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14A7DF6-C7A6-46F8-AE0B-DE9B3360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848350"/>
            <a:ext cx="953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9E2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A0C64F6-CEFE-4F3E-BE69-C9DBE0D4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867400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State reconstruction  corr. 0.9927 / AUROC delta +0.02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E8550DD-C2B7-4162-A3C6-76DF4D97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1109157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EE2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56285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ext 0">
            <a:extLst xmlns:a="http://schemas.openxmlformats.org/drawingml/2006/main">
              <a:ext uri="{FF2B5EF4-FFF2-40B4-BE49-F238E27FC236}">
                <a16:creationId xmlns:a16="http://schemas.microsoft.com/office/drawing/2014/main" id="{D904292B-43C5-4A0F-8895-F35B82BA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00"/>
            <a:ext cx="73144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선호</a:t>
            </a: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기반</a:t>
            </a: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 학습 — 연구 사례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Text 1">
            <a:extLst xmlns:a="http://schemas.openxmlformats.org/drawingml/2006/main">
              <a:ext uri="{FF2B5EF4-FFF2-40B4-BE49-F238E27FC236}">
                <a16:creationId xmlns:a16="http://schemas.microsoft.com/office/drawing/2014/main" id="{F101CEAB-71C7-4F51-94FB-21B02198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520" cy="54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사람 </a:t>
            </a:r>
            <a:r>
              <a:rPr sz="255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Good/Bad</a:t>
            </a:r>
            <a:r>
              <a:rPr sz="255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55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피드백으로 </a:t>
            </a:r>
            <a:r>
              <a:rPr sz="255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보상모델을 학습하는 방법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Text 2">
            <a:extLst xmlns:a="http://schemas.openxmlformats.org/drawingml/2006/main">
              <a:ext uri="{FF2B5EF4-FFF2-40B4-BE49-F238E27FC236}">
                <a16:creationId xmlns:a16="http://schemas.microsoft.com/office/drawing/2014/main" id="{4651BD98-6CCA-4F1A-AA41-30737506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11220"/>
            <a:ext cx="11063520" cy="52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50000"/>
              </a:lnSpc>
              <a:buNone/>
              <a:tabLst>
                <a:tab pos="0" algn="l"/>
              </a:tabLst>
            </a:pP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아래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두 연구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는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사람이 평가한 동작을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reward/policy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학습으로 연결해 실제 </a:t>
            </a:r>
            <a:r>
              <a:rPr sz="104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제어시스템이 사용하는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것이 목적이다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104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50000"/>
              </a:lnSpc>
              <a:buNone/>
              <a:tabLst>
                <a:tab pos="0" algn="l"/>
              </a:tabLst>
            </a:pP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(A) PREC: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사용자별 취향을 소수의 대표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policy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로 압축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하는 정책 제어시스템 개인화 연구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(B) LASER: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비전문가의 피드백으로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reward model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을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만들 때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skip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을 도입하여 개인별 보정</a:t>
            </a:r>
            <a:endParaRPr sz="104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Text 3">
            <a:extLst xmlns:a="http://schemas.openxmlformats.org/drawingml/2006/main">
              <a:ext uri="{FF2B5EF4-FFF2-40B4-BE49-F238E27FC236}">
                <a16:creationId xmlns:a16="http://schemas.microsoft.com/office/drawing/2014/main" id="{E528C337-D505-466F-A628-032E0194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00438"/>
            <a:ext cx="54856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</a:tabLst>
            </a:pPr>
            <a:r>
              <a:rPr sz="122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A  PREC </a:t>
            </a:r>
            <a:r>
              <a:rPr sz="122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|</a:t>
            </a:r>
            <a:r>
              <a:rPr sz="122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2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취향이 다른 많은 사람들을</a:t>
            </a:r>
            <a:r>
              <a:rPr sz="122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 몇 개의 </a:t>
            </a:r>
            <a:r>
              <a:rPr sz="122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대표 </a:t>
            </a:r>
            <a:r>
              <a:rPr sz="122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policy</a:t>
            </a:r>
            <a:r>
              <a:rPr sz="122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로 요약</a:t>
            </a:r>
            <a:endParaRPr sz="12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hape 4">
            <a:extLst xmlns:a="http://schemas.openxmlformats.org/drawingml/2006/main">
              <a:ext uri="{FF2B5EF4-FFF2-40B4-BE49-F238E27FC236}">
                <a16:creationId xmlns:a16="http://schemas.microsoft.com/office/drawing/2014/main" id="{293FF3C6-8459-49BE-9781-0C1EBA6E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2318"/>
            <a:ext cx="5485680" cy="19725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bbb2b54e949f4"/>
          <a:stretch xmlns:a="http://schemas.openxmlformats.org/drawingml/2006/main"/>
        </p:blipFill>
        <p:spPr>
          <a:xfrm xmlns:a="http://schemas.openxmlformats.org/drawingml/2006/main">
            <a:off x="621437" y="2284835"/>
            <a:ext cx="5344920" cy="16804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8" name="Text 5">
            <a:extLst xmlns:a="http://schemas.openxmlformats.org/drawingml/2006/main">
              <a:ext uri="{FF2B5EF4-FFF2-40B4-BE49-F238E27FC236}">
                <a16:creationId xmlns:a16="http://schemas.microsoft.com/office/drawing/2014/main" id="{47C64CB0-CA79-4374-86FB-B5ED5961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40" y="3971523"/>
            <a:ext cx="5266080" cy="227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PREC 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개요 — </a:t>
            </a:r>
            <a:r>
              <a:rPr sz="720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전체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 데이터로 공용 표현을 배우고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비슷한 취향을 묶어 그룹별 보상 모델과 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policy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를 학습</a:t>
            </a:r>
            <a:endParaRPr sz="7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Shape 6">
            <a:extLst xmlns:a="http://schemas.openxmlformats.org/drawingml/2006/main">
              <a:ext uri="{FF2B5EF4-FFF2-40B4-BE49-F238E27FC236}">
                <a16:creationId xmlns:a16="http://schemas.microsoft.com/office/drawing/2014/main" id="{AA6CC300-138E-42AB-8B57-B184CC99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02337"/>
            <a:ext cx="5485680" cy="10965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Text 7">
            <a:extLst xmlns:a="http://schemas.openxmlformats.org/drawingml/2006/main">
              <a:ext uri="{FF2B5EF4-FFF2-40B4-BE49-F238E27FC236}">
                <a16:creationId xmlns:a16="http://schemas.microsoft.com/office/drawing/2014/main" id="{E09C8B73-225C-4826-99C9-7973118F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5417"/>
            <a:ext cx="5211360" cy="95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문제 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보행 보조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장치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같은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control system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은 사용자마다 선호하는 안정성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속도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효율이 다</a:t>
            </a:r>
            <a:r>
              <a:rPr sz="85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름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모두에게 하나의 </a:t>
            </a:r>
            <a:r>
              <a:rPr sz="85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p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olicy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를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배포하는 것은 </a:t>
            </a:r>
            <a:r>
              <a:rPr sz="85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비용이 싸지만 만족도가 낮고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1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인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1 policy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는 데이터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검증 비용 때문에 배포가 어</a:t>
            </a:r>
            <a:r>
              <a:rPr sz="85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려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움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spcBef>
                <a:spcPts val="700"/>
              </a:spcBef>
              <a:buNone/>
              <a:tabLst>
                <a:tab pos="0" algn="l"/>
              </a:tabLst>
            </a:pPr>
            <a:r>
              <a:rPr sz="85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방법 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전체 데이터로 공통 표현을 먼저 학습하고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비슷한 취향의 사용자를 묶어 그룹별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reward model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과 대표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policy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를 학습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 policy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수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K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는 배포 조건에 맞게 정</a:t>
            </a:r>
            <a:r>
              <a:rPr sz="85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함</a:t>
            </a:r>
            <a:r>
              <a:rPr sz="85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Shape 8">
            <a:extLst xmlns:a="http://schemas.openxmlformats.org/drawingml/2006/main">
              <a:ext uri="{FF2B5EF4-FFF2-40B4-BE49-F238E27FC236}">
                <a16:creationId xmlns:a16="http://schemas.microsoft.com/office/drawing/2014/main" id="{F5F0DA7B-5321-4626-865F-A3D9FB0B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55137"/>
            <a:ext cx="1767240" cy="80388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Text 9">
            <a:extLst xmlns:a="http://schemas.openxmlformats.org/drawingml/2006/main">
              <a:ext uri="{FF2B5EF4-FFF2-40B4-BE49-F238E27FC236}">
                <a16:creationId xmlns:a16="http://schemas.microsoft.com/office/drawing/2014/main" id="{DAD4CB54-22DA-4216-A3C7-059C4142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91497"/>
            <a:ext cx="176724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취향이 비슷한 사람끼리 묶임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30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명을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그룹으로 나눌 때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군집 품질이 기존 방식보다 높음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(0.54 vs 0.27)</a:t>
            </a:r>
            <a:endParaRPr sz="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Shape 10">
            <a:extLst xmlns:a="http://schemas.openxmlformats.org/drawingml/2006/main">
              <a:ext uri="{FF2B5EF4-FFF2-40B4-BE49-F238E27FC236}">
                <a16:creationId xmlns:a16="http://schemas.microsoft.com/office/drawing/2014/main" id="{560D015E-1F6D-475E-A3BD-E9F2F70F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040" y="5555137"/>
            <a:ext cx="1767240" cy="80388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Text 11">
            <a:extLst xmlns:a="http://schemas.openxmlformats.org/drawingml/2006/main">
              <a:ext uri="{FF2B5EF4-FFF2-40B4-BE49-F238E27FC236}">
                <a16:creationId xmlns:a16="http://schemas.microsoft.com/office/drawing/2014/main" id="{DCDB0A6F-C6F1-4985-AEB8-0B073B17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480" y="5591497"/>
            <a:ext cx="158436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policy </a:t>
            </a: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수</a:t>
            </a:r>
            <a:r>
              <a:rPr sz="100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는 감소</a:t>
            </a:r>
            <a:r>
              <a:rPr sz="100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, </a:t>
            </a:r>
          </a:p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만족도는 증가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평균 만족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하위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30%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만족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공평성 지표가 단일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policy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보다 높고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라벨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10~50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개 구간에서는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인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1 policy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보다도 높음</a:t>
            </a:r>
            <a:endParaRPr sz="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Shape 12">
            <a:extLst xmlns:a="http://schemas.openxmlformats.org/drawingml/2006/main">
              <a:ext uri="{FF2B5EF4-FFF2-40B4-BE49-F238E27FC236}">
                <a16:creationId xmlns:a16="http://schemas.microsoft.com/office/drawing/2014/main" id="{6D436DAD-0F16-4309-BA5E-38533543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80" y="5555137"/>
            <a:ext cx="1767240" cy="80388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Text 13">
            <a:extLst xmlns:a="http://schemas.openxmlformats.org/drawingml/2006/main">
              <a:ext uri="{FF2B5EF4-FFF2-40B4-BE49-F238E27FC236}">
                <a16:creationId xmlns:a16="http://schemas.microsoft.com/office/drawing/2014/main" id="{18D9E4E9-6C79-4732-B3DB-E3A62CBE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520" y="5591497"/>
            <a:ext cx="158436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노이즈에도 순위 유지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판정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16~28%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를 일부러 뒤섞어도 방법 간 순위가 크게 바뀌지 않음</a:t>
            </a:r>
            <a:endParaRPr sz="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Text 14">
            <a:extLst xmlns:a="http://schemas.openxmlformats.org/drawingml/2006/main">
              <a:ext uri="{FF2B5EF4-FFF2-40B4-BE49-F238E27FC236}">
                <a16:creationId xmlns:a16="http://schemas.microsoft.com/office/drawing/2014/main" id="{6BD450D0-9FE4-4C48-ABF3-ABE0259E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840" y="1900438"/>
            <a:ext cx="5669294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</a:tabLst>
            </a:pPr>
            <a:r>
              <a:rPr sz="122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B  LASER </a:t>
            </a:r>
            <a:r>
              <a:rPr sz="122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|  </a:t>
            </a:r>
            <a:r>
              <a:rPr sz="122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비전문가의 피드백으로 각각의 </a:t>
            </a:r>
            <a:r>
              <a:rPr sz="122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reward model</a:t>
            </a:r>
            <a:r>
              <a:rPr sz="122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을 정확도 높게 학습</a:t>
            </a:r>
            <a:endParaRPr sz="12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Shape 15">
            <a:extLst xmlns:a="http://schemas.openxmlformats.org/drawingml/2006/main">
              <a:ext uri="{FF2B5EF4-FFF2-40B4-BE49-F238E27FC236}">
                <a16:creationId xmlns:a16="http://schemas.microsoft.com/office/drawing/2014/main" id="{F295BBEB-3CD5-4C5C-9E43-9B4388AB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840" y="2242318"/>
            <a:ext cx="5485680" cy="19725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8117dae0a4f22"/>
          <a:stretch xmlns:a="http://schemas.openxmlformats.org/drawingml/2006/main"/>
        </p:blipFill>
        <p:spPr>
          <a:xfrm xmlns:a="http://schemas.openxmlformats.org/drawingml/2006/main">
            <a:off x="6233655" y="2307434"/>
            <a:ext cx="5296065" cy="1665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0" name="Text 16">
            <a:extLst xmlns:a="http://schemas.openxmlformats.org/drawingml/2006/main">
              <a:ext uri="{FF2B5EF4-FFF2-40B4-BE49-F238E27FC236}">
                <a16:creationId xmlns:a16="http://schemas.microsoft.com/office/drawing/2014/main" id="{8F62E394-0785-4328-9DBE-5D27D5C3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1523"/>
            <a:ext cx="5266080" cy="227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LASER 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개요 — 확실한 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good/bad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를 기준점으로 두고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, skip 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위치와 평가자별 성향을 함께 추정</a:t>
            </a:r>
            <a:endParaRPr sz="7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Shape 17">
            <a:extLst xmlns:a="http://schemas.openxmlformats.org/drawingml/2006/main">
              <a:ext uri="{FF2B5EF4-FFF2-40B4-BE49-F238E27FC236}">
                <a16:creationId xmlns:a16="http://schemas.microsoft.com/office/drawing/2014/main" id="{1069C9CC-B89E-4BE5-86F6-5F6046A8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840" y="4302337"/>
            <a:ext cx="5485680" cy="10965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Text 18">
            <a:extLst xmlns:a="http://schemas.openxmlformats.org/drawingml/2006/main">
              <a:ext uri="{FF2B5EF4-FFF2-40B4-BE49-F238E27FC236}">
                <a16:creationId xmlns:a16="http://schemas.microsoft.com/office/drawing/2014/main" id="{B897A1A6-1B5A-42CA-917A-8D530F21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00" y="4375417"/>
            <a:ext cx="5211360" cy="95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39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문제  </a:t>
            </a:r>
            <a:r>
              <a:rPr sz="839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비전문가들이 선호기반 학습을 하며 개인 보상 모델을 학습하는 경우</a:t>
            </a:r>
            <a:r>
              <a:rPr sz="839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839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사람들은 모두 </a:t>
            </a:r>
            <a:r>
              <a:rPr sz="839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good/bad </a:t>
            </a:r>
            <a:r>
              <a:rPr sz="839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기준점이 달라 기존의 알고리즘에서는 개인의 피드백 성향에 따라 성능차이가 심하게 났음</a:t>
            </a:r>
            <a:r>
              <a:rPr sz="839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endParaRPr sz="839">
              <a:solidFill>
                <a:srgbClr val="4C5768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39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방법  </a:t>
            </a:r>
            <a:r>
              <a:rPr sz="80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Skip feedback</a:t>
            </a:r>
            <a:r>
              <a:rPr sz="80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을 추가 </a:t>
            </a:r>
            <a:r>
              <a:rPr sz="80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-&gt;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애매하면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안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찍어도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된다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확실한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Good/Bad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feedback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을 받아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양 끝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기준점으로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Skip feedback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점수를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추정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하여 활용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  그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사람이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얼마나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관대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엄격한지에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맞춰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보정</a:t>
            </a:r>
            <a:r>
              <a:rPr sz="80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80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이렇게 함으로써 서로 다른 개인이 본인의 보상모델을 학습할 때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LASER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를 쓰면 모두 일관되게 좋은 성능이 안정적으로 나올 수 있음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Shape 19">
            <a:extLst xmlns:a="http://schemas.openxmlformats.org/drawingml/2006/main">
              <a:ext uri="{FF2B5EF4-FFF2-40B4-BE49-F238E27FC236}">
                <a16:creationId xmlns:a16="http://schemas.microsoft.com/office/drawing/2014/main" id="{FD69527B-26B9-43EA-A262-96C10697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840" y="5555137"/>
            <a:ext cx="1767240" cy="80388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" name="Text 20">
            <a:extLst xmlns:a="http://schemas.openxmlformats.org/drawingml/2006/main">
              <a:ext uri="{FF2B5EF4-FFF2-40B4-BE49-F238E27FC236}">
                <a16:creationId xmlns:a16="http://schemas.microsoft.com/office/drawing/2014/main" id="{DC9D6CDC-BE0A-44DA-9EFB-46699A24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220" y="5591497"/>
            <a:ext cx="144448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task </a:t>
            </a: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평균 성능 향상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sz="67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locomotion,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7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manipulation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7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task </a:t>
            </a:r>
            <a:r>
              <a:rPr sz="67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모두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에서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다른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방식보다 </a:t>
            </a:r>
            <a:r>
              <a:rPr sz="67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성능 향상</a:t>
            </a:r>
            <a:endParaRPr sz="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Shape 21">
            <a:extLst xmlns:a="http://schemas.openxmlformats.org/drawingml/2006/main">
              <a:ext uri="{FF2B5EF4-FFF2-40B4-BE49-F238E27FC236}">
                <a16:creationId xmlns:a16="http://schemas.microsoft.com/office/drawing/2014/main" id="{71796DF6-8D54-4B55-8605-6A1A6C17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240" y="5555137"/>
            <a:ext cx="1767240" cy="80388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" name="Text 22">
            <a:extLst xmlns:a="http://schemas.openxmlformats.org/drawingml/2006/main">
              <a:ext uri="{FF2B5EF4-FFF2-40B4-BE49-F238E27FC236}">
                <a16:creationId xmlns:a16="http://schemas.microsoft.com/office/drawing/2014/main" id="{1FBFCE67-B60F-4936-9B5D-0EAD99FA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240" y="5591497"/>
            <a:ext cx="176724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판정 일관성 상승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33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명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의 </a:t>
            </a:r>
            <a:r>
              <a:rPr sz="67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인간 대상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실험에서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skip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을 허용하자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              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good/bad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판정 일관성이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4~6%p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높아짐</a:t>
            </a:r>
            <a:endParaRPr sz="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Shape 23">
            <a:extLst xmlns:a="http://schemas.openxmlformats.org/drawingml/2006/main">
              <a:ext uri="{FF2B5EF4-FFF2-40B4-BE49-F238E27FC236}">
                <a16:creationId xmlns:a16="http://schemas.microsoft.com/office/drawing/2014/main" id="{0C062BCF-D7B2-4400-BAEC-B59C5D6D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2640" y="5555137"/>
            <a:ext cx="1767240" cy="80388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Text 24">
            <a:extLst xmlns:a="http://schemas.openxmlformats.org/drawingml/2006/main">
              <a:ext uri="{FF2B5EF4-FFF2-40B4-BE49-F238E27FC236}">
                <a16:creationId xmlns:a16="http://schemas.microsoft.com/office/drawing/2014/main" id="{9C2CF136-BE82-4A1F-8776-6152D9B2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4080" y="5591497"/>
            <a:ext cx="158436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skip </a:t>
            </a: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기준은 사람마다 다름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skip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을 누르는 구간이 하위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17%~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상위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94%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까지 달라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사람별 보정이 필요함</a:t>
            </a:r>
            <a:endParaRPr sz="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Shape 29">
            <a:extLst xmlns:a="http://schemas.openxmlformats.org/drawingml/2006/main">
              <a:ext uri="{FF2B5EF4-FFF2-40B4-BE49-F238E27FC236}">
                <a16:creationId xmlns:a16="http://schemas.microsoft.com/office/drawing/2014/main" id="{F21E4AD5-16D6-4BBB-8DCE-F9804989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1109160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688938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2026-09-18T07:46:16.7320000Z</dcterms:created>
  <dcterms:modified xsi:type="dcterms:W3CDTF">2026-09-18T07:46:16.7320000Z</dcterms:modified>
</coreProperties>
</file>